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c66ed4c9e549f2" /><Relationship Type="http://schemas.openxmlformats.org/officeDocument/2006/relationships/extended-properties" Target="/docProps/app.xml" Id="Ra3cd0f15462a4b56" /><Relationship Type="http://schemas.openxmlformats.org/officeDocument/2006/relationships/officeDocument" Target="/ppt/presentation.xml" Id="R35c5ec43d7bc47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46b91b2d3045b1"/>
  </p:sldMasterIdLst>
  <p:notesMasterIdLst>
    <p:notesMasterId xmlns:r="http://schemas.openxmlformats.org/officeDocument/2006/relationships" r:id="Ra5cf6f3af1564f08"/>
  </p:notesMasterIdLst>
  <p:sldIdLst>
    <p:sldId xmlns:r="http://schemas.openxmlformats.org/officeDocument/2006/relationships" id="256" r:id="R9760eb9208e14283"/>
    <p:sldId xmlns:r="http://schemas.openxmlformats.org/officeDocument/2006/relationships" id="257" r:id="R8c6640b062b9456e"/>
    <p:sldId xmlns:r="http://schemas.openxmlformats.org/officeDocument/2006/relationships" id="258" r:id="R8b4d14b6b9da4503"/>
    <p:sldId xmlns:r="http://schemas.openxmlformats.org/officeDocument/2006/relationships" id="259" r:id="Rb47c6abd916441d0"/>
    <p:sldId xmlns:r="http://schemas.openxmlformats.org/officeDocument/2006/relationships" id="260" r:id="R211e44b94ccc44dd"/>
    <p:sldId xmlns:r="http://schemas.openxmlformats.org/officeDocument/2006/relationships" id="261" r:id="R1a0764b8152d4b25"/>
    <p:sldId xmlns:r="http://schemas.openxmlformats.org/officeDocument/2006/relationships" id="262" r:id="R4f5564e80d0b485f"/>
    <p:sldId xmlns:r="http://schemas.openxmlformats.org/officeDocument/2006/relationships" id="263" r:id="Rabb6469b018a4c72"/>
    <p:sldId xmlns:r="http://schemas.openxmlformats.org/officeDocument/2006/relationships" id="264" r:id="Rf4fa7eb22e3b4120"/>
    <p:sldId xmlns:r="http://schemas.openxmlformats.org/officeDocument/2006/relationships" id="265" r:id="R2b7616e940d84234"/>
    <p:sldId xmlns:r="http://schemas.openxmlformats.org/officeDocument/2006/relationships" id="266" r:id="R5fb2fb12b137466c"/>
    <p:sldId xmlns:r="http://schemas.openxmlformats.org/officeDocument/2006/relationships" id="267" r:id="R054631fe2d34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913f6b9c2450a" /><Relationship Type="http://schemas.openxmlformats.org/officeDocument/2006/relationships/slideMaster" Target="/ppt/slideMasters/slideMaster1.xml" Id="R8e46b91b2d3045b1" /><Relationship Type="http://schemas.openxmlformats.org/officeDocument/2006/relationships/notesMaster" Target="/ppt/notesMasters/notesMaster1.xml" Id="Ra5cf6f3af1564f08" /><Relationship Type="http://schemas.openxmlformats.org/officeDocument/2006/relationships/presProps" Target="/ppt/presProps.xml" Id="R29a12c0946074842" /><Relationship Type="http://schemas.openxmlformats.org/officeDocument/2006/relationships/tableStyles" Target="/ppt/tableStyles.xml" Id="Ra9341b85df164b7e" /><Relationship Type="http://schemas.openxmlformats.org/officeDocument/2006/relationships/slide" Target="/ppt/slides/slide1.xml" Id="R9760eb9208e14283" /><Relationship Type="http://schemas.openxmlformats.org/officeDocument/2006/relationships/slide" Target="/ppt/slides/slide2.xml" Id="R8c6640b062b9456e" /><Relationship Type="http://schemas.openxmlformats.org/officeDocument/2006/relationships/slide" Target="/ppt/slides/slide3.xml" Id="R8b4d14b6b9da4503" /><Relationship Type="http://schemas.openxmlformats.org/officeDocument/2006/relationships/slide" Target="/ppt/slides/slide4.xml" Id="Rb47c6abd916441d0" /><Relationship Type="http://schemas.openxmlformats.org/officeDocument/2006/relationships/slide" Target="/ppt/slides/slide5.xml" Id="R211e44b94ccc44dd" /><Relationship Type="http://schemas.openxmlformats.org/officeDocument/2006/relationships/slide" Target="/ppt/slides/slide6.xml" Id="R1a0764b8152d4b25" /><Relationship Type="http://schemas.openxmlformats.org/officeDocument/2006/relationships/slide" Target="/ppt/slides/slide7.xml" Id="R4f5564e80d0b485f" /><Relationship Type="http://schemas.openxmlformats.org/officeDocument/2006/relationships/slide" Target="/ppt/slides/slide8.xml" Id="Rabb6469b018a4c72" /><Relationship Type="http://schemas.openxmlformats.org/officeDocument/2006/relationships/slide" Target="/ppt/slides/slide9.xml" Id="Rf4fa7eb22e3b4120" /><Relationship Type="http://schemas.openxmlformats.org/officeDocument/2006/relationships/slide" Target="/ppt/slides/slide10.xml" Id="R2b7616e940d84234" /><Relationship Type="http://schemas.openxmlformats.org/officeDocument/2006/relationships/slide" Target="/ppt/slides/slide11.xml" Id="R5fb2fb12b137466c" /><Relationship Type="http://schemas.openxmlformats.org/officeDocument/2006/relationships/slide" Target="/ppt/slides/slide12.xml" Id="R054631fe2d34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da88b7d554b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5f3ea430eb445b" /><Relationship Type="http://schemas.openxmlformats.org/officeDocument/2006/relationships/notesMaster" Target="/ppt/notesMasters/notesMaster1.xml" Id="R41890394afbc49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0ae9b4e2944895" /><Relationship Type="http://schemas.openxmlformats.org/officeDocument/2006/relationships/notesMaster" Target="/ppt/notesMasters/notesMaster1.xml" Id="R578229ecd6ee4b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0371df2055441c" /><Relationship Type="http://schemas.openxmlformats.org/officeDocument/2006/relationships/notesMaster" Target="/ppt/notesMasters/notesMaster1.xml" Id="R8bedb9bc8ab44b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16a79ff17b4a98" /><Relationship Type="http://schemas.openxmlformats.org/officeDocument/2006/relationships/notesMaster" Target="/ppt/notesMasters/notesMaster1.xml" Id="R052509c5a158477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a2c56a7bf3149be" /><Relationship Type="http://schemas.openxmlformats.org/officeDocument/2006/relationships/notesMaster" Target="/ppt/notesMasters/notesMaster1.xml" Id="R452d13388fce47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0ef7bcdef04ed0" /><Relationship Type="http://schemas.openxmlformats.org/officeDocument/2006/relationships/notesMaster" Target="/ppt/notesMasters/notesMaster1.xml" Id="R4d6a8118573248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2aafda58a947d0" /><Relationship Type="http://schemas.openxmlformats.org/officeDocument/2006/relationships/notesMaster" Target="/ppt/notesMasters/notesMaster1.xml" Id="Rcbaa925064c44f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db0485c2c1487f" /><Relationship Type="http://schemas.openxmlformats.org/officeDocument/2006/relationships/notesMaster" Target="/ppt/notesMasters/notesMaster1.xml" Id="R00dab823521d48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0e31f60954402f" /><Relationship Type="http://schemas.openxmlformats.org/officeDocument/2006/relationships/notesMaster" Target="/ppt/notesMasters/notesMaster1.xml" Id="R79afc8fd6d2447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535979a718443f" /><Relationship Type="http://schemas.openxmlformats.org/officeDocument/2006/relationships/notesMaster" Target="/ppt/notesMasters/notesMaster1.xml" Id="R59a060ec35e148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dfadd8062d40c9" /><Relationship Type="http://schemas.openxmlformats.org/officeDocument/2006/relationships/notesMaster" Target="/ppt/notesMasters/notesMaster1.xml" Id="Rc38fc706ebf24c4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daff8bb69743de" /><Relationship Type="http://schemas.openxmlformats.org/officeDocument/2006/relationships/notesMaster" Target="/ppt/notesMasters/notesMaster1.xml" Id="R8c4c088fc8704b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frontend-screen-contracts / contracts-*.js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frontend-screen-contracts/assets/contracts-*.js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frontend-contract.js · 공통 페이지 컨텍스트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contracts-*.js response 정의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contracts-core.js · contracts-common.js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contracts-analysis-main.js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contracts-analysis-energy.js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contracts-analysis-energy.js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contracts-service.js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contracts-report.js · contracts-admin.js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frontend-screen-contracts 전체 필드 설명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프론트 화면별 변수·API 계약 분석 결과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5d3d8b44b8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f44c9b351049d2" /><Relationship Type="http://schemas.openxmlformats.org/officeDocument/2006/relationships/slideLayout" Target="/ppt/slideLayouts/slideLayout1.xml" Id="R69d05266383642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d05266383642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ba1033eeef43f5" /><Relationship Type="http://schemas.openxmlformats.org/officeDocument/2006/relationships/notesSlide" Target="/ppt/notesSlides/notesSlide1.xml" Id="Rd6b68c0c36fc43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ff867f9d14f06" /><Relationship Type="http://schemas.openxmlformats.org/officeDocument/2006/relationships/notesSlide" Target="/ppt/notesSlides/notesSlide2.xml" Id="R02d1b9b06f0e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ebd77d899471a" /><Relationship Type="http://schemas.openxmlformats.org/officeDocument/2006/relationships/notesSlide" Target="/ppt/notesSlides/notesSlide3.xml" Id="R3cd324dfeed147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cd888713846a5" /><Relationship Type="http://schemas.openxmlformats.org/officeDocument/2006/relationships/notesSlide" Target="/ppt/notesSlides/notesSlide4.xml" Id="Rf9920c66401444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a1064e7d8847e7" /><Relationship Type="http://schemas.openxmlformats.org/officeDocument/2006/relationships/notesSlide" Target="/ppt/notesSlides/notesSlide5.xml" Id="R965e1a5bfb3e47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f8c49bde04b38" /><Relationship Type="http://schemas.openxmlformats.org/officeDocument/2006/relationships/notesSlide" Target="/ppt/notesSlides/notesSlide6.xml" Id="R93365da201ca42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13b13bdf34797" /><Relationship Type="http://schemas.openxmlformats.org/officeDocument/2006/relationships/notesSlide" Target="/ppt/notesSlides/notesSlide7.xml" Id="Rfb8e07d8dc1747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90f9532504b2d" /><Relationship Type="http://schemas.openxmlformats.org/officeDocument/2006/relationships/notesSlide" Target="/ppt/notesSlides/notesSlide8.xml" Id="Rea90f01cc48145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68c348f614b9e" /><Relationship Type="http://schemas.openxmlformats.org/officeDocument/2006/relationships/notesSlide" Target="/ppt/notesSlides/notesSlide9.xml" Id="R0a6b0fab10664e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ba675f8834560" /><Relationship Type="http://schemas.openxmlformats.org/officeDocument/2006/relationships/notesSlide" Target="/ppt/notesSlides/notesSlide10.xml" Id="R0fdbd338ccd84e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53a9ea7394353" /><Relationship Type="http://schemas.openxmlformats.org/officeDocument/2006/relationships/notesSlide" Target="/ppt/notesSlides/notesSlide11.xml" Id="Ra00c48c491864b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9fe8a83cf4d18" /><Relationship Type="http://schemas.openxmlformats.org/officeDocument/2006/relationships/notesSlide" Target="/ppt/notesSlides/notesSlide12.xml" Id="R69578880de4f42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C1ECA-EA80-4757-B09F-89EF63AE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828D3B-6A91-43DF-A641-A5E5388F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Bobcat MACHINE IQ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0B8B4-56A5-4EC2-A7C7-71A5550B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858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프론트 화면별 변수·API 계약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48326-E94A-482F-982C-42EB73C9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1D5DB"/>
                </a:solidFill>
              </a:defRPr>
            </a:pPr>
            <a:r>
              <a:rPr sz="1575" b="0">
                <a:solidFill>
                  <a:srgbClr val="D1D5DB"/>
                </a:solidFill>
              </a:rPr>
              <a:t>플릿·딜러 화면이 받는 입력값, 응답 필드, 화면 사용 여부와 개선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0673F-C5F6-430E-A6D5-1B057726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3B12"/>
                </a:solidFill>
              </a:defRPr>
            </a:pPr>
            <a:r>
              <a:rPr sz="975" b="1">
                <a:solidFill>
                  <a:srgbClr val="FF3B12"/>
                </a:solidFill>
              </a:rPr>
              <a:t>기준 문서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919C7-7968-4C30-AF44-4017B9D4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904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frontend-screen-contracts / contracts-*.js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EB0500-756E-48CE-997F-C33BE37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150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CA3AF"/>
                </a:solidFill>
              </a:defRPr>
            </a:pPr>
            <a:r>
              <a:rPr sz="975" b="0">
                <a:solidFill>
                  <a:srgbClr val="9CA3AF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9338905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597393-827B-4C56-8157-20FD1C7E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BC312A-4707-4E52-A5BC-605FCF0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29726-0B39-45BB-815D-A0571370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현재 API 계약의 범위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F660A-6CF6-4BFE-80B4-C5EF3970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프론트 소스에서 확인한 엔드포인트를 화면군으로 재분류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70B9A2-28EC-44DF-B724-90C938EE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A93C49-7370-436B-86BC-4463F716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A9BC2-9844-4C5D-8504-173FA0D9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E248D2-78FE-4C68-B715-1A82CC6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공통·인증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82AB4C-29D6-4941-8CC0-6C3B9F33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인증, 사용자 언어, 회사·그룹·차량 목록, 지도·Geofence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B8ABC-A00E-4CDB-BB85-2919AE983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856B5B-2435-4473-9939-065E3373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분석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F11D9-20F7-4F01-9838-34362D8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운영효율, 충격, 엔진 연비, 리튬·수소 배터리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7ED27-C73A-4BE8-B29C-7684C377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12EC2-2431-4A10-86A3-89C45DE0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서비스·보고서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3BDCC-FE0E-4E6F-B854-DFB9FB9E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차량 에러, 정비이력, 소모품, 그룹·업체 비교 리포트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2704B4-0FB4-4481-AB08-E1631A2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BCC4E0-5E69-4F6C-8FE3-FA18A4AD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관리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1A78A2-B095-4BDA-A571-DB08A269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사용자, 업체, 그룹, 차량, 권한, 계정 신청 관리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E0CD12-A1BF-4B13-B590-F4C4FA06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F31DD3-E21E-4213-B2F1-6C21FC53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frontend-screen-contracts/assets/contracts-*.js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EA8D6-F77C-4579-9341-57C816E66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202442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1726391-D225-4827-B213-8CCC4686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1CC23F-1858-45BE-80A6-F5408C2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COMMON INPUT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AD912-9424-4C23-A740-23C630E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공통 요청 변수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C6407-FC16-45E5-AAAE-E780FEF56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화면 이동 시 유지하거나 다시 선택해야 하는 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60C10-53F1-49C0-9088-1B783A9F9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945A3-5F37-47AB-B8C5-2DE24C2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B89EA-D64B-4F63-B658-91F3ED3EF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FECAEA-DF20-4CBB-A425-D3BAADF9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70FA43-15D1-451C-8771-ADAA08DC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1428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CDEC2-05C9-42DD-82EC-3C327E89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81175"/>
            <a:ext cx="1276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타입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543DD-EEB7-4A40-8B9F-FA91B95F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75260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A6A99-F3BD-42D4-B7EC-47F0B391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811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필수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3E8C8-0394-41A2-AA24-04836C01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D07268-7539-44C2-9688-6EB59FD0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사용 화면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8B920-BD82-441B-BE38-93E503A1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52600"/>
            <a:ext cx="4248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4B3C1D-4A27-4F94-957F-F9569815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8117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설명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AECB59-3E86-4BF7-A26A-E618CC7F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4A110F-FB92-4358-8114-455BA70B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C08684-0661-4B53-83C7-675A04D7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78AF8-137A-43E0-A0DB-DE8F4714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81225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string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1FA218-D608-449C-BF68-E79DA526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52650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9D98F-7B51-4EE0-8E71-03F7F13B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181225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3E1547-7F54-440C-8418-7F9ACE3A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61EDBB-C22E-4C7E-BF25-D1BBEF6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81225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전체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CD4D5-AD09-4055-8D8C-01F8EA4C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38D16-B9B9-4544-9532-A51A256D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181225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fleet 또는 dealer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98D932-656D-493A-AAD9-A49ED3E8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1493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42B8EB-F2CD-4017-A6A3-3AA0DB18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0068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lang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CBBB88-7231-4F79-8116-D7261DA2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1493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88DA31-90C8-4F70-A62E-145B095A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720068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099806-391A-4871-9DF1-899A2DE2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91493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E5DC40-E160-4632-99E9-FCFC6128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720068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95925-2DA7-4A3B-9284-1974B597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691493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1A790E-649C-4373-8254-E50B3C43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20068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전체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8F2CC1-A3C3-4AC8-9070-1A4831CD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91493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96A35A-0D5E-4480-A4EF-74D206C8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720068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ko/en 등 표시 언어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35FF9B-6DE8-464D-BBEC-51AAE9F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0336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719CB8-89E6-470A-926B-3BBA9E2E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58911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companyId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67CEFD-B289-4541-A837-F2472A8D9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30336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3165FF-5486-40DE-9401-D7E275BB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58911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number|string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C13775-38EF-4B08-A45E-907DFDF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30336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C591C2E-5B71-4D8B-BE96-60AF967D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58911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조건부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C178AF-B02B-4B6D-B638-450220DBB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30336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9F62223-7BD6-400A-A6AC-FB6373D7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58911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딜러·업체 기준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5B82A3C-DEE4-4A57-8D22-06578C62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30336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C50B8A-C781-4A6E-967F-58E739EC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258911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조회 업체 식별자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47C1CF9-13F7-43A6-8BBC-6F4F383C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9179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66FB8D8-5E37-4DAB-AFF6-C6EDD3BE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7754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groupId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DF6AF-DA3E-4C14-AAD2-0EB41FA2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769179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D0DAE3-4C98-4372-B345-3E743437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797754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number|string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17EF1-7693-43FB-B627-C1FC8305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69179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9ABFED6-1107-4E9E-AB4B-6402D1F1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797754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조건부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8F73A2-43CC-46BF-AF60-F8212071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769179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C37BB7-1CF8-43C6-962B-703908FF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797754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플릿·그룹 기준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92AEAC0-8A4B-4E87-9B28-555D99A2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9179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AA4697-E480-48C0-8F05-27695D4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797754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조회 그룹 식별자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08EC19-4A38-4018-BDD4-2E1E43620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8021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9A46562-24BA-4C06-8321-6D088831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6596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equipmentId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9A6177-046B-4F86-8CE3-4C5A9BED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08021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8702E0-71FE-4FF6-AD27-0FA416E0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36596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string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DF787B-FADA-43CD-851F-3272BCB6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8021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F51450-A7CA-4AB2-A928-65E2B06A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336596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상세 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1B1FA4-0F8F-41FB-BBDC-CDDC1F3E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08021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F2BF6EC-C445-4467-8FBB-1C1DFED1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336596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차량 상세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BF94C49-EFE5-4D97-8684-F6CD44B4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08021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483564F-3DF3-4F12-9058-E0913BEC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336596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차대/호기 식별자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4528463-B5E6-4098-9EC1-22E5793A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864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0FCF35-26A0-4EE2-B083-92A390FE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75439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startDate / endDate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D6D2F0-A1FF-4D20-B5AB-A8CD3A04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46864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29134FE-15AC-4800-9FC5-2B43172D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75439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date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CDA1AB-6542-4ABC-A9DF-54974B29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46864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7D93AA5-5D6B-4BAE-BB28-88349EB5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875439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조회 Y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8406456-8CD6-4341-A05D-139413FE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46864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8FCDB12-3C98-4B7C-ACCB-F774A939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875439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기간 화면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BFBB208-6140-4CBD-9675-846846CA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46864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9CB84F0-931C-4446-BCD2-D83E04BD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4875439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일·주·월·사용자설정 결과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CE66F67-61EE-4243-BD84-2C0668587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5707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E9551CB-5884-4C27-ACC6-CF8AFA2C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14282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page / size / sort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2CF3E29-0B27-4077-93BE-31BC904F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385707"/>
            <a:ext cx="1428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7AD475B-35F9-46C6-8318-5A086077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414282"/>
            <a:ext cx="1257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number|string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7CEAA36-374B-4B8C-ACCC-00D2807B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385707"/>
            <a:ext cx="95250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9D09E39-C722-4157-B6FC-27B5FFCA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14282"/>
            <a:ext cx="78105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목록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A8E75FC-288F-4BD5-A72E-7E754495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385707"/>
            <a:ext cx="2381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B9A5C7D-BD40-4010-8AC6-73B2C9D5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414282"/>
            <a:ext cx="2209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목록 화면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E0F4C5-18C3-4BD4-80B1-B8170A33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385707"/>
            <a:ext cx="4248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AA4E3A8-239B-4AA7-B9A7-A254FAB0A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5414282"/>
            <a:ext cx="4076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페이징·정렬 기준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C10F90-9278-4A15-B1BC-A677E548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29DC2D-6A8F-4A66-A4C7-96D377C25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frontend-contract.js · 공통 페이지 컨텍스트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9BC6E7D-0FF1-4929-90C7-72EA0BE4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3029900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47CD227-138F-42E8-9206-01074389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84CC4D-1D48-41AF-98CF-7B201E3A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COMMON OUTPUT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61CEE-25E5-40A2-9378-6C80D016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공통 응답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2AB4D-B90C-4AA6-A8C6-D56FE59C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화면 표시값과 상태 처리를 분리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B1266A-713F-403C-90DF-7DBC4B5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D2F6EC-0A54-43D1-A491-DCA73F93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800E7D-B26B-468D-968B-8C25D1778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4011B-6338-47CD-8951-EA460FE3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필드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E55AA-1794-4C88-B77C-3DC269A3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52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2372B-6B99-4A8D-93FB-85C0CE31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81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타입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0E41D-309F-4B9F-AEF2-EE1C17D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5DF2A6-E086-4F11-8B07-0D5A7528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8117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191B2-B288-47AE-888D-B5783271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52600"/>
            <a:ext cx="5391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CCA4EB-B2DD-41F2-9374-7A32593A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81175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처리 기준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C62DA2-2819-4061-9C70-278007A9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9D66F-A408-41EB-A340-C7C710F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success / code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F29DF4-74D0-4E44-87D5-101185C3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52650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72DD5-9A37-4A79-899C-5EE75E11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181225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boolean|string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DC5C0A-CAFF-4BCE-A6EB-A0EF0C46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F3EB62-F529-4B7A-ABAF-6484C7FB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81225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E00262-94F4-4E1F-80D9-0B11C0F6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52650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AD979C-6D3C-4CAF-A86F-2F13402A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81225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성공·오류 분기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5AFB5-AB33-4028-9A96-F580D450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91493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567A8-39C0-45F1-AE87-7539514D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20068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message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3CC045-56E8-4B35-A1E4-2FCF3F10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91493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8FA02C-CD30-4632-8B94-47422BA8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20068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0B29A2-86B0-4890-9560-5F65CDFDB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91493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ECB01E-302C-42FA-B056-ADCDCA07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720068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조건부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1FBC44-DCD7-4BB9-BA3F-AEF9ED2E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91493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4E70F0-088D-46CF-9363-CC2B0D14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720068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오류 또는 안내 문구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4E68D8-E042-49C9-A7C2-2589927C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0336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F26654E-C212-4C46-85FB-7F4B6BF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58911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data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B3AC3E-8F28-4C2B-9751-38099776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30336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91CFD4-9472-4BFC-94AD-AE190447E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258911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object|array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D5A55C-5800-47CE-B1EE-98596601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0336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E02E18-6256-4CE9-BC7B-74C028B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258911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D9AD578-10AD-4CD0-AF90-6B8C60E5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30336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5CBA66-61FD-42D0-8859-542BE5A0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258911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화면 본문 데이터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ADDF87-6FC0-4A94-8CF2-CE81DECF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9179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865672-800D-4E1B-8562-B443D2E8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97754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totalCount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56C5C6-4EFF-4BB3-8F5F-908AB700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69179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FCDF53-FFB4-45A0-9D71-333714CE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97754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number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1EBEF9-7114-46BE-BAFB-6FFCC2AD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69179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2A1877-C2F7-4FDE-B7CD-5BFB63FC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97754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목록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F43339-A346-4305-8F8F-00A2C2AA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69179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577240-36B6-45E0-862B-EC9DF222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797754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카운트·페이징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326238-6459-495B-91C5-C95781EF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8021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133323C-BB29-448C-8714-0E4EE36B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36596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timestamp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EB632A-F505-44E4-8024-4C7FC993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08021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A61CB1-63AC-44CE-B1DA-F9F1E0B3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336596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datetime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7876CA4-BA58-494E-807D-7938D1AD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08021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FCBEB1-8EEE-40DA-89D8-B575F2AA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336596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미사용 가능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9049FC-C730-4D02-82F9-1553D50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08021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D6A835-FED3-4F34-9BCE-C083C1FBA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336596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추적 로그용, 화면 미표시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1B3DB9E-7EDF-4C11-B7C9-5DEDEFB7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6864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34B62F-BA35-4588-99EC-88B860CA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875439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traceId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ED9127-488F-40D3-B785-2C764711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46864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257F17D-C66B-4084-9322-746CD3E4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75439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string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1FEBF3-4C6B-417D-9E67-FF52A022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46864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1543B56-08B9-4A35-B5F2-F7168EC8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875439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미사용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65DD657-F6C4-436F-A3A3-AA6216FF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46864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0B50EF1-481F-4E6F-9D9D-E021FF14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875439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장애 추적용, UI 비노출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26E7F9F-16DD-4ACD-81CD-2D26FA1C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5707"/>
            <a:ext cx="2000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297C26-161F-44E8-8098-75FD401A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14282"/>
            <a:ext cx="1828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null 필드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C2DB63-741F-4D0D-9FC8-EA4F9806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85707"/>
            <a:ext cx="16192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9BD5560-4BFC-44B3-82CC-D11C1DE7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414282"/>
            <a:ext cx="14478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any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8E6A49-C263-4250-9F3D-CDBDA6F07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85707"/>
            <a:ext cx="18097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F224A3-BAEC-4CE9-BDF0-62CA742A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414282"/>
            <a:ext cx="16383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조건부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5B5C058-87CD-43C4-92CA-06E712F3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85707"/>
            <a:ext cx="5391150" cy="5388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E95B583-00D6-4F45-AE47-C0E77D429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414282"/>
            <a:ext cx="5219700" cy="4816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0과 미수신을 구분해 표시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2F4C9B-9C79-456A-B69F-72AF20A7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CF8866-B7CD-4DBC-AA51-2AE52675E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contracts-*.js response 정의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7C86AF9-F8AD-4A82-88A9-C74EC15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221504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55820-6CA1-4A63-9DD0-79AB74E1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B41F0C-70E5-4AF9-80FA-DA14059C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DASHBOARD / VEHICLE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6DD98-C25A-42D6-B0FC-5EFDD496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대시보드·차량 화면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B5DC4-CDDD-4788-95B3-5EBD8990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조회 대상과 차량 선택 상태를 기준으로 API 호출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6D9441-9632-4BDB-8FD1-44413B13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C38AF1-7E9B-4B95-A894-3456AFF95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DA4FC-6515-40FD-945C-5B58FA8A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279F6-9659-478B-86A7-9C8A85D4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FAAE0-824B-402E-B0C5-3BA920E7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E45C8-5E98-4945-83A0-7FA38B6AB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2FF4B-97AC-49E0-A267-133DF354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입력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9CECA8-5113-4AC6-B82E-FFF7C374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companyId 또는 groupId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equipmentId(상세)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startDate · endDate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lang · 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7D875D-2551-4FC9-9A9B-C30EA14E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응답과 화면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098B75-DDDA-4965-8E6E-84AB4FDE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보유 차량 수 · 동력 유형별 수량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가동시간·이동거리 순위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업체/그룹/차량 기본정보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위치·연결상태·최근 통신일시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화면 미사용: 내부 집계키, 원시 좌표 메타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F7E24C-7593-42E3-AFBE-8821AE6F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CD5DD-9AE4-4D91-B571-275E0C0F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contracts-core.js · contracts-common.js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A4A87-3513-4C22-BD23-86FD916C6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795357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3A3762-7A24-47D9-813B-EF3BC089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34187-C511-4A96-AC62-51DA5691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OPERATING / SHOCK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CB02D-D3F2-4C6B-B8A5-735F07B5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운영효율·충격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0F6F7-F93B-4EBE-AA01-36C7652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기간 선택과 실제 작업시간 표시를 같은 계약으로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F16D61-6464-43C3-A81F-A265CA47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024EE-8FC8-41B9-98BE-A2C8D6C5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1911D-493F-439C-BF6D-D17394C5B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302C5-A5F0-47AA-B2DE-AA590CB8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466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49017A-ABEC-4E39-964E-606D7538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52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5BED4-181B-44A0-BA09-0F83D61E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81175"/>
            <a:ext cx="2705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주요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7C240F-C063-4221-992D-BDC396CB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7526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5F2C20-E036-4A28-96B1-036A2F0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81175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주요 응답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C5E07-F103-46F3-8672-2EE86098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752600"/>
            <a:ext cx="2247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9F92D8-F08B-4F3B-87DA-46101E01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811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표시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90268-F37F-4561-95FB-F62956B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16F42-2A77-427A-A1CB-6C6D765E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운영효율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0F0D0F-28E4-417E-B14B-29CD21BF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152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D91B30-0CE6-46E5-BF48-68CCEBD4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1812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groupId/companyId, 기간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8DB02-CD83-4229-84F8-D24B801B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52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62330-1524-4E56-8A1E-CE78DE8F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1812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workingRate, workingHour, idleRate, unusedRate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759580-6549-4BAF-8853-A44284FC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77D4C7-03DD-4C5B-A314-1988E35B6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18122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모두 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7F275C-1905-4A42-8B33-791F0657B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9DD83-C778-412D-90E2-79D0DED9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운영 순위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CA698F-2AAD-44D5-B402-EFE10DCA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A1BA29-BBA2-4857-891F-A1E1A2F3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7336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대상 ID, 기간, sort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A2B132-49FF-4E17-9619-F3CCFECB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05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11E4C-02AA-4FD5-85A1-276FAAB9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27336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equipmentId, rank, workingHour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D7A3AA-DFD1-48D7-8A64-5D0233A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D1823F-EB99-44A5-BAEF-415632DE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27336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9840D-E6B3-4991-AB69-2993693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12F2FC-6F1E-497B-9D14-9F56AFDC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충격 그래프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53FDBD-263E-4F1A-BF72-EDAB39F61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57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EACB74-403B-4C65-A1CF-E142B74FA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2861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대상 ID, 기간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E97E377-79E4-43EB-A74F-A16D3413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2575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A182F1-2196-4D00-9736-669A5C08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2861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date, sensitive, caution, warning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45327B-F1AD-4B2F-B744-5C26A87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575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8BCE13-BB45-4A6F-A882-FAA7DBF3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28612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BD5FC5-4B0D-48DD-89A3-00E3B241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323563-C51B-4873-B3B7-3AFDD370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충격 순위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D5DBB9-98C4-49E3-A838-A59418F0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8100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76527B-0FF7-48F3-B31C-7CCFB129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83857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대상 ID, 기간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CA48F0D-874C-46F3-B8E9-FE49B4D7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8100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F5B90E-9A76-497C-8592-E5CEC1419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8385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equipmentId, shockCount, rank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D704163-734D-493A-A23A-7959FD00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81000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A57F7DD-8BDA-4D1B-9C01-6621C6B6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83857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F8732A-D468-46FA-AFE7-90D0EE98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00A6D11-92BC-40F3-820C-D83C25A5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91025"/>
            <a:ext cx="1447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캘린더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8A557F-81FC-440E-8C8E-9B9FCE25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3624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5378A11-E423-4497-8DBC-3848B4A1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91025"/>
            <a:ext cx="2686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대상 ID, 년월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29BDFF-630D-460A-9B22-66A5BBB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624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B34FB42-622C-4B56-88F7-0F08E07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3910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date, status, eventCount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A177203-AA8F-4119-9ADB-3EB15A08A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3624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04E90E8-8273-47E7-B37A-44E60207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391025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조건부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199809-F317-47E0-96EE-412D26BD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037203-FAB7-4D0B-ABE4-1AE06345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contracts-analysis-main.js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BED8987-267B-4A94-8746-F3CFF588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1337669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DD7362-5C3A-409B-82FD-DC43E80F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0DB48A-ACE5-4A10-BDE9-732676EF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FUEL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778A76-E128-41A6-8DCE-0B627EE1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엔진 연비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1B7AA-1F37-4F27-82AB-DFC9E7AC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월 조회에서도 실제 값과 미수신을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39A2B-6D8D-4024-B563-2874AA4F8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07238-3A4A-4D06-95F5-C2AEF0D4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BDCBD-331D-4F78-B12D-85FB2025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546F2-93C8-410A-AB7C-016FF576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39AD9E-8F0D-4B30-9D6B-0A921F07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CE420-CCAB-43EE-ADB9-61939B38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7BED5-AC83-4769-822C-1743F477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요청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DC1D3A-9842-468F-A7B9-C4DFBFA6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GET /fleet/analysis/fuel/summary/{scope}/:id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GET /fleet/analysis/fuel/graph/{scope}/:id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scope: group | company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입력: id, startDate, endDate, equipmentId(선택)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E075D5-C503-4843-9EE5-7D537E77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응답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FF8089-4CB8-49EC-9966-F6F42FC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averageFuelRate: 평균 연비(L/H)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totalFuel: 누적 연료 소비량(L)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series[].date/value: 일자별 연비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previousValue: 전월 비교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사용 여부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- 수치·차트: 사용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- 원시 장비 코드: 화면 미사용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5FC876-A34D-4D70-A891-31BBF473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142028-3CA1-40F8-80CB-B8ADA4A33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contracts-analysis-energy.js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3BA87-371D-4124-9848-24C45123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2123956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30C0B6-7446-4DDD-958B-C958247F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66953-E852-4714-80CD-A14C4C63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BATTERY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BC117-401D-4078-9EB5-DB9C5589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리튬·수소 배터리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FF46E-FDB3-41BD-A8BA-EC4D60C3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목록과 차량 상세의 필수 입력을 구분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F5C13-E0AE-441E-ADBD-4F28443F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48D94-0FF2-47AF-888C-D403ACBB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5EE5E-D688-4827-AF5D-95932901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5D786-6D3A-4C3D-B4A6-B741685C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154407-D7AA-4298-AFC9-CC08ACFA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7526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C22791-E4F1-49D2-A77E-71CED4AE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81175"/>
            <a:ext cx="2419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필수 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9FACCC-6752-473B-B0D0-BAFF71CA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75260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79C2B-662F-4210-8BBF-ECFE424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81175"/>
            <a:ext cx="3943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주요 출력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FB2B3A-1017-4356-B222-E1894926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52600"/>
            <a:ext cx="2343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9AAC1-6E1B-43DE-8D58-D7C7F942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7811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 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B18B43-09FA-4D52-AF79-7B812DC0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CFD8EB-B68B-4188-A521-1F8C7DF1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리튬 목록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4EEE55-E585-418C-B9DB-2502A783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526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98A41-E142-4853-B5F4-C547420B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18122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groupId/companyId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1F407B-63B8-4F1D-AD8E-9A82C629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1526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C779A-B769-455E-8A49-03EF4F85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1812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soc, expectedLife, expectedWorkTime, status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A8A907-C8E6-4B26-93C1-6207B3F8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526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EBF931-3174-4554-A5FC-D7C62FBB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18122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6900FF-6931-4CE8-B9C7-EF57C5F22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DA210-C592-475E-B15D-B48D0A2B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리튬 상세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CDD9CF-4D4A-4820-AB7F-2B98109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051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171E36-6116-49B6-B54E-2655BA68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7336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equipmentId, 기간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3D75A-1DEE-477F-83FC-3C84656F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051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3033C0-4DD3-42BF-8C8A-085F79A1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7336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soc, temperature, charge, discharge, maxHealth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C487A-9132-4650-B71B-FA9A931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8511942-1FCB-4D61-A6F6-6DAF4AD6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73367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FB8CAE-3D8E-4832-91DB-BFE4103D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DCC0A3-BB44-4AC4-8204-98BBC43E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수소 목록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C91646-B499-4DFD-906A-0041CC1C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575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9F2D60-FDA6-409D-96EE-0507DDA3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8612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groupId/companyId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27FB19-7BCA-4331-A081-9382C05E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2575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7DD0DF6-7E52-4084-A516-F24EDDB2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2861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remainingFuel, workTime, voltage, current, status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B5C65A-658D-47AC-856A-40147FD1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575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EDDCD6-456D-4318-A23F-41B050B0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28612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6145494-A31E-431A-8D8B-DCD29079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B36A5-1FAF-4FCC-9A9F-AE4EA879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배터리 오류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53F726-A5CA-4145-8A5A-7A8876D0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100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5CA89C-F6AC-4FF1-8449-2945514D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83857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대상 ID, 기간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DAAB7B-D891-4659-96EF-12CC1D8F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100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70FB31D-09C7-48A6-9152-65E090A7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83857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errorCode, occurredAt, completedAt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CBF570-3EDF-423C-8529-0D2D519A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1000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D4E781C-9445-4D2E-AC4F-A2EC0E3B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83857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통합 차량에러에서 사용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46F30A-38C2-47EC-819D-F53A7ADF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F7D95D8-3D93-4B6D-B8B9-FDE1D9DD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91025"/>
            <a:ext cx="1638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내부 센서 원시값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3CA045F-7B9E-4F42-A08F-ADA855F2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624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769A56-654F-4ED6-9C5D-148EA52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391025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equipmentId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F18E77B-5965-410D-95E8-133AD83A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3624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EC39B9-CA0B-4C7C-A799-27CC3630C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91025"/>
            <a:ext cx="3924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rawVoltage, rawCurrent, cellData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AE407C-58CF-4312-A5EF-FCDEAD5E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362450"/>
            <a:ext cx="2343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C9516A3-7459-41E1-84E3-AD0467BE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391025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현재 화면 미사용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DD0866-24B5-494C-82C0-165E3F0EE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D57CD7-536B-4560-8104-2E9F9C0E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contracts-analysis-energy.js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B51AF11-7171-42F2-8820-EE79C98C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0171927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A698A18-F7EA-4B89-A130-E200FBFE1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39D3D-86BC-4D1D-818B-E286DFC8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SERVICE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55E30F-E7A4-45C1-92E2-7EBE692F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차량 에러·정비·소모품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FDA6-1117-45D3-82FA-E659127F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플릿과 딜러는 같은 원천 데이터에서 노출 필드를 달리 사용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C6B71-CEBE-4708-BF76-AA940971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439B07-A9A7-4129-9F61-AE0C792A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76162-5B06-4120-AB75-EBB4D81C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7C631E-56C3-40AF-BAB4-DF2AA396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81175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6B6B8E-1011-4DEE-97DB-059309F1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75260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35DF2-C5C7-4B73-8845-E879A5F4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81175"/>
            <a:ext cx="232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입력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B4FB41-A8E2-4EF4-884A-6D6A6B4E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752600"/>
            <a:ext cx="457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AD7C3-5A9B-4FA1-BA98-21E6D512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81175"/>
            <a:ext cx="4419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응답 필드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00404-732A-4477-9A90-37FF85A2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52600"/>
            <a:ext cx="2057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65BD58-F13D-4387-85FB-92927889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81175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사용 여부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4F436-A9E5-4663-A80E-91C9BBDA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C2E741-0E56-437E-A3C4-F956CE81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812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차량 에러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68BCF4-D4D0-48B7-B945-6F6D8963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526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CD2B9-7652-447A-96E2-2127C96E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1812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scopeId, 기간, equipmentId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F3B17E-30B8-4FAD-828A-ED1177E3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526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7F959-C4B2-4314-90E6-F3DB0270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1812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errorCode, SPN, FMI, type, occurredAt, completedAt, manualPdf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AC0461-4553-4356-88E2-939A8B04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526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D073CA-57FA-457E-98A8-BBA6F4DB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18122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E7D948-99C2-4610-BBF9-241B18BC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581605-51E9-4BB9-8813-50DCB02A3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3367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정비이력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70443-834D-4CD6-86AA-1DF4132B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593AB-8DCA-4C78-BB6C-9F5F2CAC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7336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scopeId, 기간, equipmentId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B9A498-222E-4070-BFE8-AA71F999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051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B7F1E5-EE84-47A0-B0ED-C3A03358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336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repairId, claimNo, part, symptom, detail, receivedAt, completedAt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193F2-F947-4CA8-ACAB-6CFB6FC5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7051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30BB55-A144-4F3A-9B54-2020BB3E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273367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역할별 사용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641692-50A4-4C14-980D-CE34DB1E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E7D3DB-0110-4A9B-BFA3-2FC28E57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861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소모품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80B457-1C51-48E2-8768-C20B4BE81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AB14A8-1E4F-4FE6-94E3-A7CD95B5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2861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scopeId, equipmentId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D991D-C3DA-4AC6-A128-6FF8A4E2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2575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2F533D-5A2C-479B-B225-040242F5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2861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item, registeredAt, usedHour, cycle, replaced, 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30E800-04B7-4F95-BC41-C3A0CE5E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575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E8BC3C5-4527-4EB1-AAD6-4E7095F4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28612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사용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5A9C79-2795-4C20-BAC6-9C9F4A51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4ED82-312E-41EC-901E-B3390F2C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3857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서비스 카운트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235537-AA67-49BD-92D5-16DCA59A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022AD02-B256-4CF4-8F1F-D9D6E7CE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3857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scopeId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E0BEC2-E720-4816-A51F-A818550F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81000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BBC1EF-6924-469F-B4F3-23535B582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383857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maintenanceCount, supplyCount, errorCount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51DA55-D789-47CB-849E-ABE05D2FB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81000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35FBE0F-58F7-4931-A588-946FCAE2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83857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LNB 카운트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CCBA40-EA0B-4CAE-B8BF-343AC513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BBFFA3-E0EC-42B8-82B4-AB223DE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91025"/>
            <a:ext cx="1543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수정 메타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F0FAD4-EDDB-40D4-AF6F-39F96498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62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711EFA-FD19-4953-922C-7DC52520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391025"/>
            <a:ext cx="2305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userId, modifiedAt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16E3EE0-4CDE-462E-98F2-4E8625A6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362450"/>
            <a:ext cx="457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07AC3F-124C-4538-ABB5-1423B776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4391025"/>
            <a:ext cx="4400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감사 추적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BA28F60-5644-4C2D-80CA-4572F814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3624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9D71C5B-0613-4BFA-9304-5A9E2511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391025"/>
            <a:ext cx="1885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2E3138"/>
                </a:solidFill>
              </a:defRPr>
            </a:pPr>
            <a:r>
              <a:rPr sz="975" b="0">
                <a:solidFill>
                  <a:srgbClr val="2E3138"/>
                </a:solidFill>
              </a:rPr>
              <a:t>화면 미표시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4BFC5BA-7F27-4E87-AC8C-0086FFB8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18114B-2FB6-4AD2-846D-BC93AEBD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contracts-service.js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9F2998-62F2-4BC1-9D9C-BD9C2397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358282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C0056-4D3C-451F-A4BA-FDA7DBB2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366F0-AEFD-48DE-97E7-3C7D6515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REPORT / ADMIN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9C5AE6-8A05-4AEB-A5D0-09A9485E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리포트·관리기능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2C99F-B11F-4CA2-9BE6-EDAF3325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권한에 따라 같은 필드의 조회 범위가 달라짐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C6926-35F4-433D-860C-7A8E7D64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DDE15-C2AF-4D3C-8857-49A5C5AF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C2E307-3FE5-451F-BCFA-CBC42A98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588E2-F64C-4A54-86C6-7B3C8AF6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BC882C-6236-4F42-9C5A-94C2CF8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707AD-CCFA-4A30-8842-59202BE1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6D428-14C6-478A-80F4-C4FF54BB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리포트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83265C-C34E-4B79-B1AB-B722BCE1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summary / graph / heatmap / diffgroup / diffcompany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입력: 대상 ID, 기간, 지표, 정렬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출력: 집계값, 시계열, 비교값, 지도 좌표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화면 미사용: 집계 내부키·원시 계산 중간값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1A5EF4-E773-4C08-8898-99110CB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14C1BB-9B6F-4C14-A51D-6379C2B5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companies / groups / equipments / users /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입력: 사용자 역할, 조직 범위, 검색 조건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출력: ID, 명칭, 상태, 권한, 연결 관계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화면 미사용: 내부 감사키·삭제 플래그 원문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CEC0AE-7BC2-446E-9A9B-8A5BAE9B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412BCB-2D0D-44FA-A9B3-E4960199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contracts-report.js · contracts-admin.js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E4BAD-6A36-4562-8318-8577AEC8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13621372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FFDE08-584A-4211-AEC2-7D9043BE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A3AB9-71E9-4008-9321-C7F176F6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FIELD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23270D-54BA-4D2D-B578-BD5688C8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응답 필드 사용 여부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59E70-C0EF-413B-884F-E330A67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필드별 화면 사용 상태를 계약 문서에서 유지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01100C-BEE1-4339-9A37-7105F0E3A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4AA10-BC27-43D9-ABE8-7AE91417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EBAB2-81B0-41F1-92A3-961C5FCC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A1BE4-C3F4-45F7-A5AE-E8002EA2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1FA1C-EC34-4869-B928-4C7D5AAB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화면에 직접 표시하거나 차트·카운트 계산에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716D3C-DDB8-42C2-B425-7EDE227B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7CFF8A-62B1-4E4F-9D9B-B8A989F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240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조건부 사용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92D0B8-AC92-44BA-AE61-12F3BC3C7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플릿/딜러, 권한, 동력 유형에 따라 선택 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C543F0-84E5-4FF1-8D03-211ADD27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CDBC45-6BEA-4C2F-9E9E-273B907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미사용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23E4-DAD6-497D-94D0-F1500617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응답에는 있으나 현재 화면에서 읽지 않는 필드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D068D-643E-4ADB-9AE1-6C03D23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33800"/>
            <a:ext cx="523875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2827DD-A187-451B-A0C4-69E19C0A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05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3B12"/>
                </a:solidFill>
              </a:defRPr>
            </a:pPr>
            <a:r>
              <a:rPr sz="1350" b="1">
                <a:solidFill>
                  <a:srgbClr val="FF3B12"/>
                </a:solidFill>
              </a:rPr>
              <a:t>확인 필요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13F12-3EB7-4B4C-9320-CD1C1E57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48150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E3138"/>
                </a:solidFill>
              </a:defRPr>
            </a:pPr>
            <a:r>
              <a:rPr sz="1200" b="0">
                <a:solidFill>
                  <a:srgbClr val="2E3138"/>
                </a:solidFill>
              </a:rPr>
              <a:t>이름·단위·null 의미가 불명확해 서버 정의가 필요한 필드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07AD9-7E06-4576-B133-D463B341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951BE9-AB95-44F5-ADD5-B85488C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frontend-screen-contracts 전체 필드 설명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F3DA63-4065-4D98-8217-80CEC7352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21442767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45563-EDB3-4CDD-BB3D-850DFE5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809FBA-DD78-4BBB-9A9B-C7C2DE67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3B12"/>
                </a:solidFill>
              </a:defRPr>
            </a:pPr>
            <a:r>
              <a:rPr sz="900" b="1">
                <a:solidFill>
                  <a:srgbClr val="FF3B12"/>
                </a:solidFill>
              </a:rPr>
              <a:t>API · IMPROVEMENT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9B60A-6263-487C-AF02-BE6DC8A9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향후 계약 개선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2DE6AB-DE2F-42C3-A91C-B16B102D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07D"/>
                </a:solidFill>
              </a:defRPr>
            </a:pPr>
            <a:r>
              <a:rPr sz="1125" b="0">
                <a:solidFill>
                  <a:srgbClr val="68707D"/>
                </a:solidFill>
              </a:rPr>
              <a:t>기존 API를 유지하면서 화면 계약을 안정화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86DC2-81C6-4802-BEFF-02735A8B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8707D"/>
                </a:solidFill>
              </a:defRPr>
            </a:pPr>
            <a:r>
              <a:rPr sz="975" b="1">
                <a:solidFill>
                  <a:srgbClr val="68707D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54DE8-3D38-45B4-9251-5CB33F7CD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789C8-A355-4948-9102-C1126A89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C5038F-A0D7-4CE1-BDF1-2F34CABB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B50D4-1244-4F7B-8D95-9B61533E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523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07D"/>
          </a:solidFill>
          <a:ln xmlns:a="http://schemas.openxmlformats.org/drawingml/2006/main" w="0">
            <a:solidFill>
              <a:srgbClr val="6870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1ACF0-907E-4BAB-B147-DEDC902E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52600"/>
            <a:ext cx="535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3B12"/>
          </a:solidFill>
          <a:ln xmlns:a="http://schemas.openxmlformats.org/drawingml/2006/main" w="0">
            <a:solidFill>
              <a:srgbClr val="FF3B1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D6785-901B-488C-A490-8BAF2974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현재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E5A2B-3508-41A7-A895-72FE8574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476250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화면마다 companyId/groupId 분기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동일 의미 필드명이 다름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0·null·미수신 구분 부족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날짜·시간대 기준이 응답에 없음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미사용 필드가 누적됨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F55508-4A2E-42F7-AA7A-E6BD9A5A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0025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개선 항목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C75AC6-BFBB-4CDB-B78B-E1DE579E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76500"/>
            <a:ext cx="4857750" cy="3067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context: service/organization/equipment 통일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DTO와 schemaVersion 명시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unit/timezone/dataStatus 추가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권한별 field mask 정의</a:t>
            </a:r>
          </a:p>
          <a:p xmlns:a="http://schemas.openxmlformats.org/drawingml/2006/main">
            <a:pPr algn="l">
              <a:defRPr sz="1275" b="0">
                <a:solidFill>
                  <a:srgbClr val="2E3138"/>
                </a:solidFill>
              </a:defRPr>
            </a:pPr>
            <a:r>
              <a:rPr sz="1275" b="0">
                <a:solidFill>
                  <a:srgbClr val="2E3138"/>
                </a:solidFill>
              </a:rPr>
              <a:t>미사용 필드 제거 전 사용 로그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00FD1E-A265-4639-9CB9-FC7ABE2B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0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CAA9F8-539E-4EC1-9ACC-80340093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885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출처  프론트 화면별 변수·API 계약 분석 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064BD-3806-40E4-8803-10BE669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8707D"/>
                </a:solidFill>
              </a:defRPr>
            </a:pPr>
            <a:r>
              <a:rPr sz="750" b="0">
                <a:solidFill>
                  <a:srgbClr val="68707D"/>
                </a:solidFill>
              </a:rPr>
              <a:t>2026.08.29</a:t>
            </a:r>
          </a:p>
        </p:txBody>
      </p:sp>
    </p:spTree>
    <p:extLst>
      <p:ext uri="{BB962C8B-B14F-4D97-AF65-F5344CB8AC3E}">
        <p14:creationId xmlns:p14="http://schemas.microsoft.com/office/powerpoint/2010/main" val="3556831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2026-08-29T07:54:15.1880000Z</dcterms:created>
  <dcterms:modified xsi:type="dcterms:W3CDTF">2026-08-29T07:54:15.1880000Z</dcterms:modified>
</coreProperties>
</file>