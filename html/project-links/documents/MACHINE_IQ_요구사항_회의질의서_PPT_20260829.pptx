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828d6ccbb24a40" /><Relationship Type="http://schemas.openxmlformats.org/officeDocument/2006/relationships/extended-properties" Target="/docProps/app.xml" Id="R03e41d58226f494e" /><Relationship Type="http://schemas.openxmlformats.org/officeDocument/2006/relationships/officeDocument" Target="/ppt/presentation.xml" Id="R758988a1abbb42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4aea45dd9946ef"/>
  </p:sldMasterIdLst>
  <p:notesMasterIdLst>
    <p:notesMasterId xmlns:r="http://schemas.openxmlformats.org/officeDocument/2006/relationships" r:id="R15c96b6c1be146e0"/>
  </p:notesMasterIdLst>
  <p:sldIdLst>
    <p:sldId xmlns:r="http://schemas.openxmlformats.org/officeDocument/2006/relationships" id="256" r:id="Rfffe4d5be6914aef"/>
    <p:sldId xmlns:r="http://schemas.openxmlformats.org/officeDocument/2006/relationships" id="257" r:id="R6b6bd547c6794a02"/>
    <p:sldId xmlns:r="http://schemas.openxmlformats.org/officeDocument/2006/relationships" id="258" r:id="R2a8d9e06df2a42d7"/>
    <p:sldId xmlns:r="http://schemas.openxmlformats.org/officeDocument/2006/relationships" id="259" r:id="R33699a674409480f"/>
    <p:sldId xmlns:r="http://schemas.openxmlformats.org/officeDocument/2006/relationships" id="260" r:id="Rfb36e95dcc6c462c"/>
    <p:sldId xmlns:r="http://schemas.openxmlformats.org/officeDocument/2006/relationships" id="261" r:id="R35ed0f40210f439f"/>
    <p:sldId xmlns:r="http://schemas.openxmlformats.org/officeDocument/2006/relationships" id="262" r:id="R205843af2ac14345"/>
    <p:sldId xmlns:r="http://schemas.openxmlformats.org/officeDocument/2006/relationships" id="263" r:id="Rffb555e259384fb2"/>
    <p:sldId xmlns:r="http://schemas.openxmlformats.org/officeDocument/2006/relationships" id="264" r:id="R77232e403fa64110"/>
    <p:sldId xmlns:r="http://schemas.openxmlformats.org/officeDocument/2006/relationships" id="265" r:id="Ra859bb0b92454ac2"/>
    <p:sldId xmlns:r="http://schemas.openxmlformats.org/officeDocument/2006/relationships" id="266" r:id="Rd0af5193f6d04be3"/>
    <p:sldId xmlns:r="http://schemas.openxmlformats.org/officeDocument/2006/relationships" id="267" r:id="Red85f4043c9e4194"/>
    <p:sldId xmlns:r="http://schemas.openxmlformats.org/officeDocument/2006/relationships" id="268" r:id="Ra75561cec43c44da"/>
    <p:sldId xmlns:r="http://schemas.openxmlformats.org/officeDocument/2006/relationships" id="269" r:id="R2594ab91373a4bd9"/>
    <p:sldId xmlns:r="http://schemas.openxmlformats.org/officeDocument/2006/relationships" id="270" r:id="R3770b3dcc4de46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569e22007448d4" /><Relationship Type="http://schemas.openxmlformats.org/officeDocument/2006/relationships/slideMaster" Target="/ppt/slideMasters/slideMaster1.xml" Id="R604aea45dd9946ef" /><Relationship Type="http://schemas.openxmlformats.org/officeDocument/2006/relationships/notesMaster" Target="/ppt/notesMasters/notesMaster1.xml" Id="R15c96b6c1be146e0" /><Relationship Type="http://schemas.openxmlformats.org/officeDocument/2006/relationships/presProps" Target="/ppt/presProps.xml" Id="R14e7d05704be4436" /><Relationship Type="http://schemas.openxmlformats.org/officeDocument/2006/relationships/tableStyles" Target="/ppt/tableStyles.xml" Id="Rb7116d9b309d4f39" /><Relationship Type="http://schemas.openxmlformats.org/officeDocument/2006/relationships/slide" Target="/ppt/slides/slide1.xml" Id="Rfffe4d5be6914aef" /><Relationship Type="http://schemas.openxmlformats.org/officeDocument/2006/relationships/slide" Target="/ppt/slides/slide2.xml" Id="R6b6bd547c6794a02" /><Relationship Type="http://schemas.openxmlformats.org/officeDocument/2006/relationships/slide" Target="/ppt/slides/slide3.xml" Id="R2a8d9e06df2a42d7" /><Relationship Type="http://schemas.openxmlformats.org/officeDocument/2006/relationships/slide" Target="/ppt/slides/slide4.xml" Id="R33699a674409480f" /><Relationship Type="http://schemas.openxmlformats.org/officeDocument/2006/relationships/slide" Target="/ppt/slides/slide5.xml" Id="Rfb36e95dcc6c462c" /><Relationship Type="http://schemas.openxmlformats.org/officeDocument/2006/relationships/slide" Target="/ppt/slides/slide6.xml" Id="R35ed0f40210f439f" /><Relationship Type="http://schemas.openxmlformats.org/officeDocument/2006/relationships/slide" Target="/ppt/slides/slide7.xml" Id="R205843af2ac14345" /><Relationship Type="http://schemas.openxmlformats.org/officeDocument/2006/relationships/slide" Target="/ppt/slides/slide8.xml" Id="Rffb555e259384fb2" /><Relationship Type="http://schemas.openxmlformats.org/officeDocument/2006/relationships/slide" Target="/ppt/slides/slide9.xml" Id="R77232e403fa64110" /><Relationship Type="http://schemas.openxmlformats.org/officeDocument/2006/relationships/slide" Target="/ppt/slides/slide10.xml" Id="Ra859bb0b92454ac2" /><Relationship Type="http://schemas.openxmlformats.org/officeDocument/2006/relationships/slide" Target="/ppt/slides/slide11.xml" Id="Rd0af5193f6d04be3" /><Relationship Type="http://schemas.openxmlformats.org/officeDocument/2006/relationships/slide" Target="/ppt/slides/slide12.xml" Id="Red85f4043c9e4194" /><Relationship Type="http://schemas.openxmlformats.org/officeDocument/2006/relationships/slide" Target="/ppt/slides/slide13.xml" Id="Ra75561cec43c44da" /><Relationship Type="http://schemas.openxmlformats.org/officeDocument/2006/relationships/slide" Target="/ppt/slides/slide14.xml" Id="R2594ab91373a4bd9" /><Relationship Type="http://schemas.openxmlformats.org/officeDocument/2006/relationships/slide" Target="/ppt/slides/slide15.xml" Id="R3770b3dcc4de46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29c82c53bb4a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889fb8c80b4be7" /><Relationship Type="http://schemas.openxmlformats.org/officeDocument/2006/relationships/notesMaster" Target="/ppt/notesMasters/notesMaster1.xml" Id="Rcd1ee7c778c046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64beab45254759" /><Relationship Type="http://schemas.openxmlformats.org/officeDocument/2006/relationships/notesMaster" Target="/ppt/notesMasters/notesMaster1.xml" Id="R477a6b8ba61e44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9ed3b3cd4e4f29" /><Relationship Type="http://schemas.openxmlformats.org/officeDocument/2006/relationships/notesMaster" Target="/ppt/notesMasters/notesMaster1.xml" Id="R42267926e8e245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dd79d0f1eb410a" /><Relationship Type="http://schemas.openxmlformats.org/officeDocument/2006/relationships/notesMaster" Target="/ppt/notesMasters/notesMaster1.xml" Id="R7bcefef3ab5d45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037a084d0547f4" /><Relationship Type="http://schemas.openxmlformats.org/officeDocument/2006/relationships/notesMaster" Target="/ppt/notesMasters/notesMaster1.xml" Id="Rcad61a323cff42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100dcde85d4272" /><Relationship Type="http://schemas.openxmlformats.org/officeDocument/2006/relationships/notesMaster" Target="/ppt/notesMasters/notesMaster1.xml" Id="R25174060386245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d0defdd1654060" /><Relationship Type="http://schemas.openxmlformats.org/officeDocument/2006/relationships/notesMaster" Target="/ppt/notesMasters/notesMaster1.xml" Id="Rabe4294f036b4b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a10433e46640e8" /><Relationship Type="http://schemas.openxmlformats.org/officeDocument/2006/relationships/notesMaster" Target="/ppt/notesMasters/notesMaster1.xml" Id="Rc93a6e715c124a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aaed5e4ad4452b" /><Relationship Type="http://schemas.openxmlformats.org/officeDocument/2006/relationships/notesMaster" Target="/ppt/notesMasters/notesMaster1.xml" Id="Re3f6b67845854b8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d6b6b7c9664190" /><Relationship Type="http://schemas.openxmlformats.org/officeDocument/2006/relationships/notesMaster" Target="/ppt/notesMasters/notesMaster1.xml" Id="R18cc7ae889cb4ac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34b33e19a44876" /><Relationship Type="http://schemas.openxmlformats.org/officeDocument/2006/relationships/notesMaster" Target="/ppt/notesMasters/notesMaster1.xml" Id="R6a16599208294e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c662c4410904b63" /><Relationship Type="http://schemas.openxmlformats.org/officeDocument/2006/relationships/notesMaster" Target="/ppt/notesMasters/notesMaster1.xml" Id="Rcaf17b97c15a46d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58ea2908bc347e4" /><Relationship Type="http://schemas.openxmlformats.org/officeDocument/2006/relationships/notesMaster" Target="/ppt/notesMasters/notesMaster1.xml" Id="R84a5ba9dfdd84eb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cab7474537f4b60" /><Relationship Type="http://schemas.openxmlformats.org/officeDocument/2006/relationships/notesMaster" Target="/ppt/notesMasters/notesMaster1.xml" Id="R68227557436f42d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f8ab8eefe234a4f" /><Relationship Type="http://schemas.openxmlformats.org/officeDocument/2006/relationships/notesMaster" Target="/ppt/notesMasters/notesMaster1.xml" Id="R730623ea000a4d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- 260624_Service workshop #1_MVP.pptx · 2~11p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2~11p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2p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2p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2p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3p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3p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4p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5p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6p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7p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8~9p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10p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- 260624_Service workshop #1_MVP.pptx · 11p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- MACHINE_IQ_요구사항_및_회의질의서_20260827.xlsx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4a3970f8bf45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4b8712bf8f4243" /><Relationship Type="http://schemas.openxmlformats.org/officeDocument/2006/relationships/slideLayout" Target="/ppt/slideLayouts/slideLayout1.xml" Id="Rf41345aea89742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1345aea89742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4c1d39ab74fb9" /><Relationship Type="http://schemas.openxmlformats.org/officeDocument/2006/relationships/notesSlide" Target="/ppt/notesSlides/notesSlide1.xml" Id="Rb6d773187f4c48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6f00c001c4e69" /><Relationship Type="http://schemas.openxmlformats.org/officeDocument/2006/relationships/notesSlide" Target="/ppt/notesSlides/notesSlide2.xml" Id="R0393322533ca49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f542a1a62a40ca" /><Relationship Type="http://schemas.openxmlformats.org/officeDocument/2006/relationships/notesSlide" Target="/ppt/notesSlides/notesSlide3.xml" Id="Re0fbf8f4963948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771ec2f394b45" /><Relationship Type="http://schemas.openxmlformats.org/officeDocument/2006/relationships/notesSlide" Target="/ppt/notesSlides/notesSlide4.xml" Id="R899f2757de074a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8ef91100a4616" /><Relationship Type="http://schemas.openxmlformats.org/officeDocument/2006/relationships/notesSlide" Target="/ppt/notesSlides/notesSlide5.xml" Id="Rb09f36a2d80d46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bf24c2026f4e59" /><Relationship Type="http://schemas.openxmlformats.org/officeDocument/2006/relationships/notesSlide" Target="/ppt/notesSlides/notesSlide6.xml" Id="R86eee23dfd2947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53651ad2b47d2" /><Relationship Type="http://schemas.openxmlformats.org/officeDocument/2006/relationships/notesSlide" Target="/ppt/notesSlides/notesSlide7.xml" Id="R41137e0512624a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5f1084b0b458a" /><Relationship Type="http://schemas.openxmlformats.org/officeDocument/2006/relationships/notesSlide" Target="/ppt/notesSlides/notesSlide8.xml" Id="Rcf37fb1d10354a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b457f4b09f4ffd" /><Relationship Type="http://schemas.openxmlformats.org/officeDocument/2006/relationships/notesSlide" Target="/ppt/notesSlides/notesSlide9.xml" Id="R1ed9f65daa2d45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b44b4c3cf4d16" /><Relationship Type="http://schemas.openxmlformats.org/officeDocument/2006/relationships/notesSlide" Target="/ppt/notesSlides/notesSlide10.xml" Id="R10a02b1816004b6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c86a211c14dd8" /><Relationship Type="http://schemas.openxmlformats.org/officeDocument/2006/relationships/notesSlide" Target="/ppt/notesSlides/notesSlide11.xml" Id="Rffbda96c6493485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c74dbff9d74852" /><Relationship Type="http://schemas.openxmlformats.org/officeDocument/2006/relationships/notesSlide" Target="/ppt/notesSlides/notesSlide12.xml" Id="Rdbb08f4bb53c4c1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8c7dc8c9c4ebb" /><Relationship Type="http://schemas.openxmlformats.org/officeDocument/2006/relationships/notesSlide" Target="/ppt/notesSlides/notesSlide13.xml" Id="R5f659f1a0637415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e8638ea67c4690" /><Relationship Type="http://schemas.openxmlformats.org/officeDocument/2006/relationships/notesSlide" Target="/ppt/notesSlides/notesSlide14.xml" Id="R85eb5719c7ab4ba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764a5cf2141d4" /><Relationship Type="http://schemas.openxmlformats.org/officeDocument/2006/relationships/notesSlide" Target="/ppt/notesSlides/notesSlide15.xml" Id="R6ec3c8b70e194c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3027F4-DB65-40A9-9008-5DC91185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E5D25A-0098-4FF6-A109-D6E05817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Bobcat MACHINE IQ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2BD31-9494-4656-B151-89A2ED97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048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요구사항</a:t>
            </a:r>
          </a:p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회의 질의서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F6D6CB-E2A8-4E04-A78E-0D57671A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1D5DB"/>
                </a:solidFill>
              </a:defRPr>
            </a:pPr>
            <a:r>
              <a:rPr sz="1650" b="0">
                <a:solidFill>
                  <a:srgbClr val="D1D5DB"/>
                </a:solidFill>
              </a:rPr>
              <a:t>화면·메뉴별 요구사항 31건과 확인 질의 25건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9B98A9-8007-4A68-8B23-1323D16C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기준 파일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1A5FBE-DAB9-4FE0-A6E4-F522F816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685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260624_Service workshop #1_MVP.pptx · 2~11p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MACHINE_IQ_요구사항_및_회의질의서_20260827.xlsx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25FEC9-21B9-4D86-AFAB-E82B8F7A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00075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9CA3AF"/>
                </a:solidFill>
              </a:defRPr>
            </a:pPr>
            <a:r>
              <a:rPr sz="1050" b="0">
                <a:solidFill>
                  <a:srgbClr val="9CA3AF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3990255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2E8771-C877-4F29-B6D4-9EA47F0E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61513F-386F-430C-B242-A8CF5DA7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1512A9-50F6-424D-A859-CFAD2206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회의에서 확인할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0E6C3-E2F7-4977-AA84-8315C76F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요구사항은 원문 기준으로 유지하고, 결정이 필요한 항목만 질의로 연결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A28A0-5707-4416-BB2C-2F5725D8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2A179C-9774-4C56-AC44-7C859B05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040A6-C110-4CC8-B31B-A5CDB627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3B12"/>
                </a:solidFill>
              </a:defRPr>
            </a:pPr>
            <a:r>
              <a:rPr sz="3900" b="1">
                <a:solidFill>
                  <a:srgbClr val="FF3B12"/>
                </a:solidFill>
              </a:rPr>
              <a:t>31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AEB9BB-53D1-4C12-A18C-AD96D2CA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요구사항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D2D240-4F3D-4727-AEAD-FEF6589C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PPT 2~11p 전체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7BE1A6-94CF-40AD-8202-A6DA161B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0025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3B12"/>
                </a:solidFill>
              </a:defRPr>
            </a:pPr>
            <a:r>
              <a:rPr sz="3900" b="1">
                <a:solidFill>
                  <a:srgbClr val="FF3B12"/>
                </a:solidFill>
              </a:rPr>
              <a:t>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7F98B9-DFB4-4202-A9A9-CA702920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확인 질의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34019-C4B9-41F5-AA20-164F7F40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업무·데이터·권한·글로벌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5D4C14-2CDE-4E7D-B907-C6F94D8E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0025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3B12"/>
                </a:solidFill>
              </a:defRPr>
            </a:pPr>
            <a:r>
              <a:rPr sz="3900" b="1">
                <a:solidFill>
                  <a:srgbClr val="FF3B12"/>
                </a:solidFill>
              </a:rPr>
              <a:t>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789963-0048-4B4B-82B0-7100579F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메뉴 구간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0564D6-6D7D-4D73-B782-214DE2FD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670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서비스·운행이력·홈·대시보드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889829-6322-4C79-A584-1DE8D696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A80529-13A7-456E-AFEF-D1941B9A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회의 순서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D9FCC7-7E92-44F8-A2A5-03450887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</a:defRPr>
            </a:pPr>
            <a:r>
              <a:rPr sz="1650" b="0">
                <a:solidFill>
                  <a:srgbClr val="2B2B2B"/>
                </a:solidFill>
              </a:rPr>
              <a:t>① 요구사항 원문 확인   →   ② 화면·메뉴 범위 확인   →   ③ 질의 답변·결정 기록   →   ④ 후속 데이터·권한 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2F6839-9BFA-40F4-8524-D68ADA9E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</a:defRPr>
            </a:pPr>
            <a:r>
              <a:rPr sz="1200" b="0">
                <a:solidFill>
                  <a:srgbClr val="6B7280"/>
                </a:solidFill>
              </a:rPr>
              <a:t>질의가 없는 요구사항은 별도 질문을 만들지 않고 요구사항 내용만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BF4A48-7B0F-4FC9-BDB0-D46C4863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D09014-C7E6-4ADD-8520-7E573A10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2~11p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22C18C-1B78-4C5A-922D-99A4E777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10489680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B113AB-3D2A-4DBA-B2B9-B1915E01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8E1A86-40CB-4887-A4C9-691CDA91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4B7A0-C6E5-420A-B4AA-05F1356F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서비스 공통 조회 조건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789BB-9D11-408B-B235-27FB0FA2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GNB · 기본 기간 · 사용자설정 · 날짜 입력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BD9B7-98DC-4D73-883A-D5549E87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DD417-5307-4897-B547-1BE01685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796E9C-358B-4DC6-B41C-C983BF65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07911-1D64-41A0-9237-24E5AD25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E3A75C-7411-4D58-BEBE-5454A8ED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R-SVC-001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20039-D766-4004-BC3E-A8DB7145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GNB 활성 밑줄 정렬 통일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668C0A-4F0F-4ADC-B6CF-800C7AD2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공통 GNB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8C455F-8101-4A6D-8027-3BC6945C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7953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서비스 밑줄 정렬 불일치, 다른 항목도 동일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833AD9-30BD-44AC-A3CE-4B86DFE2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71D2CA-12FB-44D8-B808-96298631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9777D-3B24-4A0E-BC35-EEBB02CE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R-SVC-002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4BDD46-E299-4028-9352-077BBBF06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91465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기본 조회 기간을 일 단위로 변경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9C5DAB-72A6-428B-AEEC-30BF228E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385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하위 전체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71C375-7039-4439-AA02-1B09F992A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3850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기본 조회 조건을 일로 변경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D985E4-DC6F-4F94-A6AE-AD81C3D3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26707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60284D-1ED0-40FB-8C4B-414559B5F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385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D44161-A260-423F-8F05-CEB90980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480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최초 조회의 ‘일’은 사용자 지역 기준 당일(00:00~23:59)인가요, 조회 시점 기준 최근 24시간인가요?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996393-5B08-4D9C-B207-4278255A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BB55DB-75ED-4978-A66E-73601088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38349D-96FE-49F7-BB11-EA0BD442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R-SVC-003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050301-4052-4CDA-9936-1C4CB9607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0767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사용자설정 가능 기간 안내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AD6C1B-B481-4540-9A0E-774F5AB7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사용자설정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F7A4EE-AE3B-49CD-A7AB-9300FAA5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0055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사용자 설정 시 가능 기간 안내 필요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FE3B91-8CB2-4251-95E8-AD14F375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2912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5BBBC7-6277-42C2-A41A-D0F96B48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005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Q-002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E533D7-101D-434A-B967-64CCE10C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6101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사용자설정으로 조회할 수 있는 최대 기간은 어느 정도까지 필요한가요? 현재 프론트에는 31일 제한이 없으므로 서버 허용 범위와 성능 기준 확인이 필요합니다.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F38747-61B0-4777-ABDA-99EE1C55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835AB1-EFCA-4FAC-9017-05B9B2C2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39866F-6841-417C-ABA8-64BD33C4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7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R-SVC-004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AE5000-0523-4785-B929-DA1C423F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23875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사용자설정 버튼 없이 날짜 직접 입력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DE1D72-65A3-4BF0-98AA-BC957D7C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626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날짜 필터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64FB0A-579A-4028-BD54-A38376EA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562600"/>
            <a:ext cx="7953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사용자 설정 버튼 안 누르고 날짜 입력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410A1B-D6C0-4EE5-A110-F2D25872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89BCDE-CDA1-4F1F-B1A6-E061D475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2p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D19CC0-6D21-4B1B-BF08-5E1BB5F8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761209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377E14-B993-4369-8979-6D099967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12953-18C5-4BDF-A58E-EC6CF9D4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11A829-5482-4363-8F49-00A7436C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차량 에러 통합 기준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7418B-DD90-4F68-8DE9-A4013B82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상단 집계 제거 · 차량/배터리/엔진 오류 통합 · 메뉴 제거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93827F-685F-4222-993E-42C94BB5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39E7E5-FDDA-4174-9FF7-7A459DE1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C4921-F039-4277-B6FD-1BF8D44E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6A07D-C8FC-400D-A085-06686895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89812-F164-4837-8C14-A96CD975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R-SVC-005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5D63B-8FCE-44DB-8A50-4E67FC97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서비스 상단 전체 집계만 제거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0DBD5-33BD-41D3-B2A6-910F527C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차량에러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772562-AEBB-424C-A238-DEB6FF7A9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7953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서비스 상단 현황의 ‘전체’ 집계 항목 제거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8A2CC-8104-461C-AD44-1C7F4F50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082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1FDE4F-014A-4251-BB65-56914F35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846609-55D8-4039-BA51-21B8EE0E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95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R-SVC-006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ECFBA-48A3-4D1A-B222-CFE8418C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76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배터리·엔진 오류를 기존 차량 에러에 통합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EF64CC-E5A6-4504-B435-3DFC7C72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0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차량에러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ED4489-D0B7-4CD4-9D2D-D50F39BD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00450"/>
            <a:ext cx="3714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배터리 에러를 별도 배치하지 않고 엔진 오류와 함께 차량 에러에 포함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921339-2B67-43CE-92F4-BA06D166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29025"/>
            <a:ext cx="95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837655-A60D-4C42-AA49-A76539A6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00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C3B6B1-F1D1-41D5-B7D1-663D1B4D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10000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J1939/DM1 데이터가 더 이상 수신되지 않을 때 오류를 완료로 볼까요, ‘마지막 수신 이후 미확인’으로 표시할까요?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85A0DB-CE2A-44A7-89B6-A6085A54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82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A61404-D31D-4570-96C2-4EDCFF26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52AF7D-8C3F-4EEF-B2B3-47638166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19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R-SVC-007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6BEA53-2763-4EB0-9AE1-3C51528F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00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배터리에러 별도 메뉴 제거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118AA0-5D41-46B2-B2F8-21795491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24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메뉴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AEDE0C-0CE4-4703-B794-F25885A7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24450"/>
            <a:ext cx="7953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따로 배치할 필요 없음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835475-C654-4A35-95A5-23D3EC18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2D7EEF-C9F7-40A2-B503-93714A6C1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2p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C0DFE8-465F-4534-9A4D-8AF34DD4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9380810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5753D9-0435-44DB-ADD3-8E2DD951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7CEE30-DB0B-42F7-9164-9702E1D7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122FFA-953E-4856-B64B-6EC52EDA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차량 에러 표시 기준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993A3-687F-4DE9-B1A2-5DD565F8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PDF 제공 조건 · 오류 구분 필드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5699E-CB43-4B2B-A11F-B080E1A8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D98531-71BA-44F4-AABB-B2B7067F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B77616-450B-4821-B421-E02D816D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335DAF-3D1D-4540-B37C-31FFF6BA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F93DA-9763-4AF2-B4D0-D66DB106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R-SVC-008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342E6-8785-4B1D-B3D0-1AD63930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PDF가 있을 때만 PDF 아이콘 표시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7D0D2F-E299-4D4A-A1AD-661323A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차량오류 목록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CA42D7-F366-4670-BC29-ECF89C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3714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PDF 있으면 아이콘 표시, 없으면 미표시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1C762-1A99-44D5-B5D1-58D0F88B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05025"/>
            <a:ext cx="95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4AD081-524A-4F9F-A45E-5910FE88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76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069BA-4F6F-40E3-83D3-5E1CCC8E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동일 오류의 매뉴얼 PDF가 언어·지역·버전별로 여러 개일 때 어떤 파일을 우선 제공해야 하나요?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89B6E0-181B-46FF-855E-630B3C94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8204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A8B717-09D2-42BE-8829-958616D2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666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671260-7118-48A8-A5A8-25037D1B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R-SVC-009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7E3500-4115-4D26-93A7-4D3E5DE1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8862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중요도를 오류 구분으로 변경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D01CEA-D3A0-463F-BCC2-9D2B8262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100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플릿·딜러 차량 에러 목록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401AC9-1495-4B16-A422-297BC298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10050"/>
            <a:ext cx="79533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중요도 대신 차량 오류와 배터리 오류를 구별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C9DC8F-9FE1-4887-8FEF-34CE2860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A3499D-007E-4B6C-A02F-C9D73867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2p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06267F-5570-47C8-B42F-27D180B3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6528507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1A9912-B3C4-498C-BD65-6B35C36E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96689-B916-49AB-ADA7-F0B1F3C4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C31FCE-55F5-4BF6-A956-6812A810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정비이력 식별자와 표시값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702787-E73E-481D-A417-819A4306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Claim 번호 · 플릿 노출 범위 · 정비 일시 · 완료 여부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6EDCDA-4338-4F31-A1B9-BD0D5C2E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9C74E2-9EA2-4726-8FD1-F6C2265C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B99E6-AF4B-46C8-B4F5-7D2CBD47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0831B9-5CFD-4C14-A604-48BEB660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FBCE7-E9BC-464E-B697-EBF93A74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R-MNT-001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207B9B-5243-43AB-8895-7E67C230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Claim 번호 표시(수리 ID 확인 선행)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0F4D5-1228-42AB-8BEF-C639E486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정비이력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3D840-620D-4948-81E6-5C877E14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정비 이력에 Claim 번호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027925-6459-4137-95C2-B584FFDD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0502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840F78-6752-4226-AAE7-C6DDA578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76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Q-005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51DB5B-1781-472B-86BF-EF92D3C1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현재 수리 ID와 Claim 번호가 같은 업무 식별자인가요? 다르다면 Claim 번호는 어느 시스템에서 제공되나요?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E554FD-CCA6-4368-B935-1BD5CCD8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EAFC72-F0C6-4A0C-8B9F-D72E86C0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9CADAE-D7BA-4D4E-BEFB-F2A31109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R-MNT-002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59A459-D6F4-48BD-A57C-4F032FB4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91465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플릿 고객은 현상까지만 노출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3E7538-D08C-46B0-BF04-6B18B853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385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정비이력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D96775-D484-45BB-ACFD-E6FCDE63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38500"/>
            <a:ext cx="7953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고객은 [현상]까지만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C07C4A-B3F3-4C4D-92CE-0A56AC15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E39000-F689-471E-9711-91DDC32F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9120D4-7925-4788-AEA9-E9915570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R-MNT-003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A22781-A6CC-4152-B4E8-D6781D14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0767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접수일시 값을 ‘정비 일시’로 표시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873CBB-E344-4ED0-A3AA-492D6E7E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정비이력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68B613-4674-476A-B47D-AC27F808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0055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[접수 일시]를 [정비 일시]로 변경, 날짜 값은 접수 일시 기준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31070D-6E72-4696-8D17-6D4E1738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2912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30AA6B-80DB-4493-AF6E-C6B37D7B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005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E16E81-57F8-4E64-851B-B28834E3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6101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화면 명칭은 ‘정비 일시’로 바꾸되 표시 값은 기존 ‘접수 일시’를 유지하는 것이 맞나요?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3AFCCC-48A6-4200-890E-3276C768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355297-FFBC-4C8C-8BA1-2D93CD3D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AF4F7A-D67D-449E-B38F-83A0B0CF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7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R-MNT-004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3502FE-F736-4E30-AE6D-1201C81E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23875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완료일시를 완료 여부 O/X로 변경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691797-DEF1-42B9-B732-FBBB1739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626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정비이력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ED3015-532E-44D2-A810-C818EE31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56260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완료 일시를 완료 여부 O,X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4842EB-3F03-4979-807F-D7D56EDF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59117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CF08CF-6260-47A1-AC11-86C954C4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626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A4F051-5A34-4876-B9CA-5F9453D9E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721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완료 여부가 X인 범위에 진행중·취소·재접수 상태를 모두 포함해도 되나요?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BA7177A-D63D-402C-B141-F3EC43B0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0A9BF6-9D89-4B3E-8140-25C8843E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3p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426B72-D048-4AC2-84F1-EBDAC555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16331870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CF52C8-78FF-4B76-A0A4-076FF460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AB3865-72FF-4C28-83FF-2B6D7C69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F9387D-1C49-45E1-9BBB-48969A99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정비이력 권한과 정렬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41BD34-E453-4213-BC4E-9DC3E7A6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수정·삭제·등록 제거 · 목록 정렬 기준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67876-930A-41DB-9A4F-7D820FC5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C634FA-8E57-4F4E-9F44-97E7DA85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190CF2-6153-43F7-936D-FC5C7900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2E20A-DDDB-4A24-AA9E-04D1848A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6244D1-1A26-47DC-A267-0CB5078A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R-MNT-005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783DF4-FD4F-4EE2-802D-5D008D4A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수정·삭제 기능 제거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047BA0-8B12-4AD1-9066-08E6CA6A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정비이력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995C6-9ACA-4B8B-943E-C5C39475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3714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수정/삭제 삭제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85F4F3-0F93-4D56-BBF3-E1F445E3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05025"/>
            <a:ext cx="95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401E69-EEE3-47A0-A8E9-247F3730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76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Q-008-1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52935-00D1-4849-A6A9-119C8639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수정·삭제 기능 제거는 플릿 고객 화면에만 적용하나요? 딜러 대표나 본사 서비스 사용자는 해당 기능을 유지하나요?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3C37A8-93E7-401F-9AC1-D3BE2104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082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AC7A93-33F4-4896-A4AA-78A06716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41CB2B-183C-4837-B99A-CE3982A3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95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R-MNT-006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23CA6A-E7D1-481B-AA09-E03CBC84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76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등록 기능 제거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8B4D5B-DEC8-48AD-9838-DEBCB616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0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정비이력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195BC3-BBC0-422C-9893-2C57F6FF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00450"/>
            <a:ext cx="3714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등록 삭제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65CAB0-1AC8-4319-B20F-C080854D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29025"/>
            <a:ext cx="95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5769BE-6BF9-4BA9-98D8-283E5F01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00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Q-008-2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4FCF19-7F9D-4A4B-9452-C7ADB999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10000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등록 기능 제거는 플릿 고객 화면에만 적용하나요? 딜러 대표나 본사 서비스 사용자는 등록 기능을 유지하나요?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1F1C83-CBE0-4BDF-A496-CE75C11E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82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AA18D9-C8D9-44A7-8B71-C7781527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C2A7CB-2F99-4132-B6E8-7184B341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19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R-MNT-007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E710B0-556C-4FA6-A6BA-24A6B29F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00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서비스 목록 정렬 기준 통일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E0BAFC-19AB-48B1-88E3-12DDA242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24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하위 목록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2166AC-B381-48F0-9410-DE38446A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24450"/>
            <a:ext cx="3714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그룹/고객명, 기종, 호기로 정렬 통일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DF2934-3744-4236-B479-E5CE67CE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153025"/>
            <a:ext cx="95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AA938A-81DA-4BAB-B4A0-79E5AAAD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124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Q-009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E14952-CD4F-41FB-BBB9-9916C9DA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334000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한글·영문 업체명이 섞일 때 정렬 언어 기준과 값이 없는 항목의 배치 순서를 어떻게 할까요?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132D9A-2242-4BDA-AD73-A129C25D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F47DEF-05E3-49A4-9118-569CAE62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3p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FAACCF-824C-4317-BF9E-E90B1D93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7239792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B4957E-D23A-4124-8ED4-A593164E0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85D794-328E-405A-8E3B-39B92DCC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257F3D-3CFF-4205-81D2-C59BFFDF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수소 시스템 진입 위치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DE19D6-B925-4C4A-ABFF-02119B8C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1차 메뉴에서 제외하고 차량 상세에서 진입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55C1E-02B9-4821-A247-3D4776F8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FD1979-DFB4-4A41-BE3F-0B0FCD7F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F5B8C-855F-40E8-AE9F-5FBD626E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8186C1-499B-4531-A57F-AD4CF64C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970B4-1DE1-4892-B02B-9BC909FE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R-OPS-001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DDC3CE-40E0-4B64-A438-B4BC3C8D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수소배터리를 1차 메뉴에서 제외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281CF-4563-42C6-A542-349F4BD7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운행이력 &gt; 수소배터리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1C4CD-5B72-452B-B391-B85BBE1C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3714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수소배터리는 한 단계 더 들어가서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2C728D-ED60-4F66-A889-2E7ADEA7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05025"/>
            <a:ext cx="95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088269-0F85-440C-9D76-DB14A950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76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81F812-ECD3-4B58-8E6F-7E24C569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수소 시스템 상세 진입은 차량 상세의 어느 영역에 두는 것이 맞나요?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FE24A9-8900-4032-9E4C-5CDBCFE2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3FC31A-273E-4DE0-9191-BF157C85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4p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936C2A-FD47-4537-91FE-9C8E8356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7268689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F7D30F-ACBF-409B-83A6-7033831E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8D6595-0502-4463-B35E-D4047192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DC5AD1-AD5F-4027-BB6B-351D77F8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운영효율 집계와 표현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149BD3-9CC8-4160-B0DB-9F431767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월 평균 · 실제 작업시간 · 31일 무스크롤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9FEF38-BC05-4866-9786-FFBD51EB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2C52D-C556-41C0-9E60-07D45A0B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C44771-2ACE-4F0C-B130-714BF8ED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A31284-1CE2-4EFB-9442-D73B948E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DC0290-A41E-436D-AF1D-C6AAAE9B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R-OPS-002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84CA9-D5A7-4F69-989C-5F444EED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월 선택 시 월 평균 운영효율 제공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6F864-A384-4BF3-B1F4-003F683A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운행이력 &gt; 운영효율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2E39EB-5A77-4BC9-B500-0E6B1F58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3714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월 평균 그래프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6A5CB3-1A14-4AAA-AEDD-2F72F65A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05025"/>
            <a:ext cx="95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3BD78E-DD5F-4632-9835-5F3C217F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76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Q-011</a:t>
            </a:r>
          </a:p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Q-012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04CC07-4EB2-4696-B6F0-DA6AFBAD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1. 월 운영효율은 어떤 분자와 분모로 계산해야 하나요? 작업시간·대기시간·미사용시간 중 포함 범위를 확정해 주세요.</a:t>
            </a:r>
          </a:p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2. 주 단위의 시작 요일과 월별 집계 기준 시간대는 국가별로 다르게 적용하나요?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5FA7C-9FE0-4B64-946A-B94C6755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082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F0CD02-6C96-41E0-9E79-04EDDD9F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5EA7F3-1F45-440D-B54C-654D76D6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95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R-OPS-003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3DD440-5168-453B-A36B-92BD385F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76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실제 작업시간을 숫자로 함께 표시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1E46F8-4F14-4EAE-B64A-8589BD3C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0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운행이력 &gt; 운영효율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B120DE-3C30-43DC-AA53-D1FF9FB6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00450"/>
            <a:ext cx="3714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% 외에 실제 작업시간 추가, 일·주·월 선택에 따라 표시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0AE5A0-B65E-4FA2-8C7F-1F63F7F6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29025"/>
            <a:ext cx="95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6CEA09-0883-4955-8B5F-9BEEA6B0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00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Q-013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FA46DE-4868-49AE-B027-02C96076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10000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실제 작업시간의 기준 단위와 화면 표시 시 반올림 기준은 무엇인가요?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6DCD44-6A03-434D-9409-94BFAB31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82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98537D-1ECE-4121-85DB-D2C21E46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156D07-8919-456B-A627-5B4EEE06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19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R-OPS-004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878D16-D88E-4961-93D4-1C47886E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00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31일을 가로 스크롤 없이 표시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9D9A79-A4C2-4415-BDDE-A2E53953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24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운행이력 &gt; 운영효율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CDA6CA-2067-42CE-957A-DE51CC83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24450"/>
            <a:ext cx="7953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축 교환은 선택적 구현 방법이며 핵심은 31일 무스크롤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8F1935-F1D1-44FB-A2DF-27BEECEC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55FDF5-6FE8-449F-85DC-EE2C524F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5p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5EF68D-FD18-437B-A662-EA24563E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13663410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7392D1-1757-41DF-84A3-1B198439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DD1334-5C61-4117-B27A-E33F4267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7F0D8-312F-4FCF-8248-0ED19040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엔진 연비 명칭과 그래프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055FEF-5DA0-4790-AB7E-FC2120B7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메뉴 명칭 변경 · 월 31일 무스크롤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96D4AA-08E4-4495-9865-4D07857B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548F3-0610-4A13-A3A6-027654F5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CB7B2-35E6-4232-A87B-38452573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97EFCF-E427-4363-ABF5-CAD64B87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BDB1EB-320B-463B-86BF-3F051343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R-OPS-006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FD0B0-79C8-4180-8AAC-1A17E70E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‘엔진’을 ‘엔진 연비’로 명칭 변경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F6B8BA-3F4D-4F84-BFD7-F7DCAF84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운행이력 &gt; 엔진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5DDE21-136E-4D68-9477-CAF5345A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3714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엔진 → 엔진 연비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A6EDD-5045-4906-8F44-7C0BBD46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05025"/>
            <a:ext cx="95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4E0A2-9463-49C1-B6EA-8EA9C7C9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76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Q-014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9D6EB6-4C0E-4B56-A34C-780A2FFE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영문 메뉴명과 화면명은 ‘Engine Fuel Efficiency’로 확정해도 되나요?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323936-BBDC-43BF-8A06-21F22EDA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8204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DFE205-5B6F-4D92-834E-C97DD5D6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666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79CD43-21AA-4F4C-B9D5-C3401FDE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R-OPS-007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B82F25-11CB-4279-B5AE-87170567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8862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월 연비 그래프 31일 무스크롤 표시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2FE45E-0D2E-494B-BCA5-A5A70657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100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운행이력 &gt; 엔진 연비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5E945A-C507-4376-8131-3AB595E5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10050"/>
            <a:ext cx="3714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스크롤 없이 31일까지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D2C9F8-1561-4666-A943-AC4C75B7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38625"/>
            <a:ext cx="95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CE9677-9C8A-43CB-9B56-183E36F4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Q-015</a:t>
            </a:r>
          </a:p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Q-016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FBC9BA-A04E-40B7-8104-3156A14F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1. 실제 연비 0과 데이터 미수신을 화면에서 각각 어떻게 구분해 표시할까요?</a:t>
            </a:r>
          </a:p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2. 연비 현황 그래프의 Y축 눈금이 중복되어 보입니다. 표시 단위, 눈금 간격과 소수 자릿수 기준을 어떻게 할까요?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A6033-4F72-4744-9F1B-3014BFF3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FA2D2E-0698-4549-9F68-F0D6BA08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6p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B03CC3-2CF3-470D-A231-AB044A29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1748011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BA910A-3144-4F63-AA3A-B758EF62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849408-0361-43FE-A2DE-1AD692AD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3993E3-F531-45CE-8A49-D943D120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리튬배터리 상세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0A6F3D-C801-4C16-BE94-0E20154D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에러 정보 제거 · 충방전량/온도 비교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21331-0698-4437-9207-E7A34EBD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B19538-E8CD-41FD-8DBF-39771EB0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D5B5F-C350-4A8B-B216-C0A85E6A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5DCD83-F5FF-4CA9-884F-74DD5A57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64D67B-17AF-4964-80DF-D5405A38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R-BAT-001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580FD9-E883-4B8C-9CF1-54745AF4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리튬배터리 상세의 에러 정보만 제거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F90673-F9A5-4270-91AA-3A53C651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운행이력 &gt; 리튬배터리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EE36EE-F646-48F1-96F2-835A601A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79533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하단 에러 정보 제외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19A2FB-6A75-4C06-9DAD-C40190DB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8204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42C413-F656-4187-AE1E-8B714DDB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666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7E8EE8-603F-4E05-A7B8-EE9BFD82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R-BAT-002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E9DEE6-3B65-4005-99B1-8292031D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8862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충·방전량과 온도 좌우 비교 제공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7C3342-D73B-4325-BA26-AEFD4339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100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운행이력 &gt; 리튬배터리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0C7EDC-D206-4906-B64A-E20642D3B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10050"/>
            <a:ext cx="3714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충방전량과 온도 그래프 같이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5ACB2F-0567-4A5C-8FC0-FF7BBE88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38625"/>
            <a:ext cx="95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A29CDE-E5C7-440E-8073-5BB027C3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Q-017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1FF88A-AAA3-4E8C-9FCA-AED68D80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배터리 온도는 사용자 지역에 따라 °C와 °F를 전환해야 하나요?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973E61-D852-4D77-8546-31F46DC6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996694-2C43-423E-A663-44CB660F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7p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73173E-0022-4522-886C-E7AB2B62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1397282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A2E003-18ED-4D23-A8E9-E6DC06B4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8CC226-8980-40BA-A703-1A01C22D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ACB97B-A5DE-4827-A234-019B02F3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딜러 차량 노출과 소유자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FDE671-A5F7-4969-AF87-99C08C21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고객 동의 전 제외 · 재판매 시 End Customer 갱신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7E308-375E-4DCE-908D-84BE5BF4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14860-8C2C-4D16-8F3A-0E241BB5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0A5F5F-AF06-4DBB-8442-2A283CB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F2ACF8-1B60-4BA9-93E3-380D1395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4702AE-23BC-457C-A846-1A1EBD614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R-HOME-001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08B790-FBCD-4DEF-92A3-385FB148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고객 동의 전 차량 완전 제외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6C68D9-D9B9-47E3-BD3F-C834D306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홈 차량 목록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63A22-E4D1-4E7B-BCF8-73134949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3714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고객 동의 확보 이전 차량은 아예 지움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179CA9-E9AA-4A59-A040-B54FFC8F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05025"/>
            <a:ext cx="95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5D621-B612-4FDF-8A33-6E8EFCB2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76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Q-018</a:t>
            </a:r>
          </a:p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Q-019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75CC4F-9173-477F-B944-E4BF8D5F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1. 고객 미동의 차량은 원천 데이터에서 삭제하나요, 목록·검색·집계·직접조회에서만 제외하나요?</a:t>
            </a:r>
          </a:p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2. 고객 동의 완료를 판단하는 기준과 동의 이력 보존기간은 국가별로 어떻게 적용하나요?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B2ED31-9A19-45D4-BEEC-854005CD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8204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72E940-0366-4FC6-9892-48FD7778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666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BD2A14-9AFC-426E-93FE-160A9624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R-HOME-002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124F6D-205F-4B24-9ECD-452BD6C0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8862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재판매 시 End Customer 갱신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7EB3D6-D0F6-4B9B-B199-5ADB123D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100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차량 소유 고객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3BD817-8CF6-4DF7-93AB-676C8596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10050"/>
            <a:ext cx="3714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재판매 시 Delivery Report와 End Customer 변경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55DDD1-249F-476B-9537-47618594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38625"/>
            <a:ext cx="95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17B047-E937-4C19-AFAB-ECDBB2D0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4B6457-7122-49A6-9DAB-1EDAB6ED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재판매·취소·재처리 이벤트와 소유 고객 변경 효력일을 현재 연계 시스템에서 제공할 수 있나요?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56E55C-F0A3-4AFF-AE98-6D6B0E79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BF21BE-B38E-4762-B1E5-82F0CF1E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8~9p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3A5E22-BDC5-41C3-A976-8A5F320C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19586434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F812AD-EFAE-4EF7-9F63-968C9AE8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84D876-9B01-40F5-AD41-CC1E1ABB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CE8AE5-C7E1-4CE3-8F8B-B092F13F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소모품 리셋 업무 기준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AB01D5-7B2E-47AE-BF12-FDE23785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리셋 명칭 · 즉시 실행 · 권한 · 관리 시작 시점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70401E-CB9B-498F-AA44-03416D4B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F8EFD0-A47F-4270-B7A0-A2BF8519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839E4-D8F5-4FAA-AEE0-24C9CC59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F15FB3-3634-4A16-B2B3-B0810043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4FAB7-9B75-4A54-8CEC-3437BE5F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R-SUP-001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533974-E9FB-49CA-ADB9-1FDA0665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수정 버튼을 리셋으로 변경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4085A7-98D9-4D1D-AD1D-DD9B773E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소모품관리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746D13-DE59-4328-A2A7-BFF0537C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수정 버튼 -&gt; 리셋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ABED44-5C15-4D88-963E-D5B1B4FE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0502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D6E8BF-8BA3-4E90-B07F-E068FFF4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76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Q-021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FF3E2B-F30C-4506-A342-38808AE9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리셋의 업무 의미는 ‘교환 완료’인가요, ‘관리 시작점 초기화’인가요?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E5A1CB-1E5D-498D-9CF7-E7B9C9BB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C6DFEA-3B10-47FE-A82E-E0FE3A58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06E858-1739-4588-A86E-90D0A60E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R-SUP-002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416F10-F653-4EBA-A126-730704B8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91465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팝업 없이 리셋 실행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21CC4-AAD4-485E-B7B4-D9EF9600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385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소모품관리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920896-DB78-4884-A98C-6A29E8E2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3850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팝업 안 띄우기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C4624B-0DF8-42F1-BB78-6E2C84EF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26707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270E7F-9059-4035-9CE5-17E8EF1E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385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Q-022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E1EB65-C8ED-4A75-8309-92210DCD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480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입력 팝업 없이 즉시 리셋하는 것이 맞나요? 단순 확인창은 허용하나요?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1C9337-FD6B-4500-B0F3-56B57FE2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438421-6BA4-4FC0-A931-EE8A8D9E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68AF11-16BD-4D29-A335-0F18346E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R-SUP-003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C866E1-D238-4A7D-94F6-AB02C830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0767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딜러 대표·본사 서비스 리셋 권한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3F1CDC-DE6E-42AA-BD7B-FCF105A9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소모품관리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8D52F-0D25-4817-B0B7-15CA1E0F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0055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리셋권한 딜러 대표, 본사 서비스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9DB03A-FCD4-4BE1-9145-1B7B68B4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2912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09AB5B-E6C9-4DD2-9C7C-B1CD948D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005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Q-023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EE2D00-0A06-46C1-BB3A-73415406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6101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리셋 권한은 딜러 대표와 본사 서비스만 해당하나요? 예외로 허용할 역할이 있나요?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B32AFC-C617-4A7B-BC16-0F5270FC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0F383C-3346-427C-8D90-30C936BE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47DF2D-7C89-4FCC-B89B-FA926E52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7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R-SUP-004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603108-04C3-4649-8B89-96A8C292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23875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리셋 기준을 관리 시작 시점으로 설정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48C642-11EE-4D65-B232-565D8E3C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626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서비스 &gt; 소모품관리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6EFE5C-D620-4201-905A-2211D1A9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56260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관리 시작 시점으로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76B809-759F-465E-95BA-39F3BA35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59117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4314D07-0268-4853-8140-296BD029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626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Q-024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36536D-6014-4955-B246-B3114D53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721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관리 시작 시점은 리셋 실행 시간인가요, 실제 소모품 교환일인가요?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DBDCF9-FD96-4F6D-A78B-C5355FE6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C2CFAE6-BBB3-42F4-BF91-D1B81390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10p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0523B1-FBA1-4167-8EEA-AB281644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2941529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ACF23D-D158-4B10-A9BD-573CA6EF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DF4CC-7936-4456-88CA-1A442FA2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E2E29E-71A8-4057-B133-496A084C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딜러 위젯 대시보드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B54F2A-6303-4099-9F12-2B29E3CC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지도 전체화면 아이콘의 동작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990D8-0927-4E4B-9825-2290AAAD0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39BCDB-FEE9-4470-A25A-6DC78C8A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467AD-AFB9-4327-A91A-779F61AB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3D1F56-5945-42A4-A672-4A543E5B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666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35C424-E1CD-40BC-AE60-93297F12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3B12"/>
                </a:solidFill>
              </a:defRPr>
            </a:pPr>
            <a:r>
              <a:rPr sz="975" b="1">
                <a:solidFill>
                  <a:srgbClr val="FF3B12"/>
                </a:solidFill>
              </a:rPr>
              <a:t>R-DSH-002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477F6C-1699-4492-A885-1D84459D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7526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전체화면 보기 아이콘 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812191-6FFD-497E-A8A7-A3DA9080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그룹별 위젯 대시보드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46040A-DA69-4D48-8AF0-EA9BB562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3714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전체화면보기 아이콘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18AEC2-9321-400F-A456-0AD712A0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05025"/>
            <a:ext cx="95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7853E4-208D-47EE-A7F0-36BEAFAE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76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FA3"/>
                </a:solidFill>
              </a:defRPr>
            </a:pPr>
            <a:r>
              <a:rPr sz="900" b="1">
                <a:solidFill>
                  <a:srgbClr val="2E6FA3"/>
                </a:solidFill>
              </a:rPr>
              <a:t>확인  Q-025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BAC73-EEB3-432C-B986-FA383218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B2B2B"/>
                </a:solidFill>
              </a:defRPr>
            </a:pPr>
            <a:r>
              <a:rPr sz="1050" b="0">
                <a:solidFill>
                  <a:srgbClr val="2B2B2B"/>
                </a:solidFill>
              </a:rPr>
              <a:t>전체화면 아이콘은 현재 화면에서 지도 위젯만 확대하나요, 별도의 전체 지도 화면으로 이동하나요?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DAB2DC-BB0B-49A9-850C-FB3F1254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0D6298-78DA-4908-85D1-2B6927EB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260624_Service workshop #1_MVP.pptx · 11p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F3DBEE-16CF-46B4-BAD0-13A5C3E5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57635956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BD1AED-6FA5-4961-9316-B551A28F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B12"/>
          </a:solidFill>
          <a:ln xmlns:a="http://schemas.openxmlformats.org/drawingml/2006/main" w="0">
            <a:solidFill>
              <a:srgbClr val="FF3B1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E8DD6A-4E1C-4D9C-BB0C-7F90A9F3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3B12"/>
                </a:solidFill>
              </a:defRPr>
            </a:pPr>
            <a:r>
              <a:rPr sz="900" b="1">
                <a:solidFill>
                  <a:srgbClr val="FF3B12"/>
                </a:solidFill>
              </a:rPr>
              <a:t>MACHINE IQ · REQUIREMENTS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1AD50F-790C-4B96-9FE1-F6D95EFE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회의에서 확정할 기준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466ADC-8CC1-44BC-8016-BC9AFC49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답변 결과가 화면·API·권한 설계로 이어지는 항목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FA5BC-9353-45E8-AE6C-B61EEEB1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A2EE4-41C7-479A-86F8-3B13274E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B4D5F5-3541-4FCA-92FB-25118738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B12"/>
                </a:solidFill>
              </a:defRPr>
            </a:pPr>
            <a:r>
              <a:rPr sz="1350" b="1">
                <a:solidFill>
                  <a:srgbClr val="FF3B12"/>
                </a:solidFill>
              </a:rPr>
              <a:t>기간·시간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667237-73FC-4D2A-A0A4-4A9F465C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857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“일”의 기준, 사용자설정 최대 범위, 주 시작 요일, 국가별 시간대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DB838E-7BAF-474B-B7DC-40090273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733550"/>
            <a:ext cx="95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EDEE50-FE21-4C97-98C9-872BD522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33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B12"/>
                </a:solidFill>
              </a:defRPr>
            </a:pPr>
            <a:r>
              <a:rPr sz="1350" b="1">
                <a:solidFill>
                  <a:srgbClr val="FF3B12"/>
                </a:solidFill>
              </a:rPr>
              <a:t>오류·완료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353601-55F7-4AC9-9DF7-1D831591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4857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J1939/DM1 미수신 상태, 오류 완료 조건, 차량/배터리 구분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B90624-F6AC-41B4-9440-34E6A7A1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B12"/>
                </a:solidFill>
              </a:defRPr>
            </a:pPr>
            <a:r>
              <a:rPr sz="1350" b="1">
                <a:solidFill>
                  <a:srgbClr val="FF3B12"/>
                </a:solidFill>
              </a:rPr>
              <a:t>식별자·연계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8A3E54-B851-4278-82B7-22D2287A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4857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수리 ID와 Claim 번호 관계, 소유 고객 변경 이벤트 제공 여부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C3CF9A-51E3-45E0-A210-B52B55134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62300"/>
            <a:ext cx="95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5DC9E9-0510-452D-A321-87CD52DB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62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B12"/>
                </a:solidFill>
              </a:defRPr>
            </a:pPr>
            <a:r>
              <a:rPr sz="1350" b="1">
                <a:solidFill>
                  <a:srgbClr val="FF3B12"/>
                </a:solidFill>
              </a:rPr>
              <a:t>권한·법무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E884C-FCAB-4EDF-B4AC-48FC60FB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524250"/>
            <a:ext cx="4857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정비 등록·수정·삭제 유지 대상, 소모품 리셋 역할, 미동의 차량 처리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266253-EED9-4630-BDFF-ED8F2E5A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B12"/>
                </a:solidFill>
              </a:defRPr>
            </a:pPr>
            <a:r>
              <a:rPr sz="1350" b="1">
                <a:solidFill>
                  <a:srgbClr val="FF3B12"/>
                </a:solidFill>
              </a:rPr>
              <a:t>글로벌 표시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5D306F-9609-4F6E-9934-EFC73322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857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PDF 언어·지역·버전 우선순위, °C/°F, 영문 메뉴명, 업체 정렬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563167-3B05-4A77-BE84-30FD866F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91050"/>
            <a:ext cx="95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4CB499-40AD-47AB-80D8-4A84DE4F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91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B12"/>
                </a:solidFill>
              </a:defRPr>
            </a:pPr>
            <a:r>
              <a:rPr sz="1350" b="1">
                <a:solidFill>
                  <a:srgbClr val="FF3B12"/>
                </a:solidFill>
              </a:rPr>
              <a:t>산식·단위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D811FF-E7EA-4A1E-A7D9-093B93FA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53000"/>
            <a:ext cx="4857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</a:defRPr>
            </a:pPr>
            <a:r>
              <a:rPr sz="1200" b="0">
                <a:solidFill>
                  <a:srgbClr val="2B2B2B"/>
                </a:solidFill>
              </a:rPr>
              <a:t>운영효율 분자/분모, 실제 작업시간 단위·반올림, 연비 0과 미수신 구분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32DA6B-CCFB-45EB-B244-14EEA816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3"/>
          </a:solidFill>
          <a:ln xmlns:a="http://schemas.openxmlformats.org/drawingml/2006/main" w="0">
            <a:solidFill>
              <a:srgbClr val="D9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8489CE-E5F4-4EC0-8227-86970DEB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출처  MACHINE_IQ_요구사항_및_회의질의서_20260827.xlsx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AD291-AF38-49F4-80BF-18CA85D5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246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2026.08.29</a:t>
            </a:r>
          </a:p>
        </p:txBody>
      </p:sp>
    </p:spTree>
    <p:extLst>
      <p:ext uri="{BB962C8B-B14F-4D97-AF65-F5344CB8AC3E}">
        <p14:creationId xmlns:p14="http://schemas.microsoft.com/office/powerpoint/2010/main" val="18931196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2026-08-29T06:48:17.5990000Z</dcterms:created>
  <dcterms:modified xsi:type="dcterms:W3CDTF">2026-08-29T06:48:17.6000000Z</dcterms:modified>
</coreProperties>
</file>