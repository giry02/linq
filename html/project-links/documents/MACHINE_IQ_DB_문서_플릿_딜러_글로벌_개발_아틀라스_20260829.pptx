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a2c3a00f5e4923" /><Relationship Type="http://schemas.openxmlformats.org/officeDocument/2006/relationships/extended-properties" Target="/docProps/app.xml" Id="R2ec11a96feb54456" /><Relationship Type="http://schemas.openxmlformats.org/officeDocument/2006/relationships/officeDocument" Target="/ppt/presentation.xml" Id="R3463fef694b043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98dd53bcfd4e4f"/>
  </p:sldMasterIdLst>
  <p:notesMasterIdLst>
    <p:notesMasterId xmlns:r="http://schemas.openxmlformats.org/officeDocument/2006/relationships" r:id="R1f2f01cb4e3c4612"/>
  </p:notesMasterIdLst>
  <p:sldIdLst>
    <p:sldId xmlns:r="http://schemas.openxmlformats.org/officeDocument/2006/relationships" id="256" r:id="R2d4feb31054046aa"/>
    <p:sldId xmlns:r="http://schemas.openxmlformats.org/officeDocument/2006/relationships" id="257" r:id="Rf3419b8c98294252"/>
    <p:sldId xmlns:r="http://schemas.openxmlformats.org/officeDocument/2006/relationships" id="258" r:id="Ra98f2bca29e74be0"/>
    <p:sldId xmlns:r="http://schemas.openxmlformats.org/officeDocument/2006/relationships" id="259" r:id="R10e3f028aef64271"/>
    <p:sldId xmlns:r="http://schemas.openxmlformats.org/officeDocument/2006/relationships" id="260" r:id="R1a1557f4c0374bc8"/>
    <p:sldId xmlns:r="http://schemas.openxmlformats.org/officeDocument/2006/relationships" id="261" r:id="R26ccf792fae34816"/>
    <p:sldId xmlns:r="http://schemas.openxmlformats.org/officeDocument/2006/relationships" id="262" r:id="R9c98b71b50d841d1"/>
    <p:sldId xmlns:r="http://schemas.openxmlformats.org/officeDocument/2006/relationships" id="263" r:id="R39012183cab942ec"/>
    <p:sldId xmlns:r="http://schemas.openxmlformats.org/officeDocument/2006/relationships" id="264" r:id="R94da1b87d19a4aba"/>
    <p:sldId xmlns:r="http://schemas.openxmlformats.org/officeDocument/2006/relationships" id="265" r:id="R8ac9fefe5a154818"/>
    <p:sldId xmlns:r="http://schemas.openxmlformats.org/officeDocument/2006/relationships" id="266" r:id="Rd2af1630d9314a08"/>
    <p:sldId xmlns:r="http://schemas.openxmlformats.org/officeDocument/2006/relationships" id="267" r:id="Rfd5bcab44ef74f91"/>
    <p:sldId xmlns:r="http://schemas.openxmlformats.org/officeDocument/2006/relationships" id="268" r:id="R8cf8dabb428147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274df774034244" /><Relationship Type="http://schemas.openxmlformats.org/officeDocument/2006/relationships/slideMaster" Target="/ppt/slideMasters/slideMaster1.xml" Id="Rf898dd53bcfd4e4f" /><Relationship Type="http://schemas.openxmlformats.org/officeDocument/2006/relationships/notesMaster" Target="/ppt/notesMasters/notesMaster1.xml" Id="R1f2f01cb4e3c4612" /><Relationship Type="http://schemas.openxmlformats.org/officeDocument/2006/relationships/presProps" Target="/ppt/presProps.xml" Id="R8f27de00dcbe4412" /><Relationship Type="http://schemas.openxmlformats.org/officeDocument/2006/relationships/tableStyles" Target="/ppt/tableStyles.xml" Id="R05650c99a9ba45be" /><Relationship Type="http://schemas.openxmlformats.org/officeDocument/2006/relationships/slide" Target="/ppt/slides/slide1.xml" Id="R2d4feb31054046aa" /><Relationship Type="http://schemas.openxmlformats.org/officeDocument/2006/relationships/slide" Target="/ppt/slides/slide2.xml" Id="Rf3419b8c98294252" /><Relationship Type="http://schemas.openxmlformats.org/officeDocument/2006/relationships/slide" Target="/ppt/slides/slide3.xml" Id="Ra98f2bca29e74be0" /><Relationship Type="http://schemas.openxmlformats.org/officeDocument/2006/relationships/slide" Target="/ppt/slides/slide4.xml" Id="R10e3f028aef64271" /><Relationship Type="http://schemas.openxmlformats.org/officeDocument/2006/relationships/slide" Target="/ppt/slides/slide5.xml" Id="R1a1557f4c0374bc8" /><Relationship Type="http://schemas.openxmlformats.org/officeDocument/2006/relationships/slide" Target="/ppt/slides/slide6.xml" Id="R26ccf792fae34816" /><Relationship Type="http://schemas.openxmlformats.org/officeDocument/2006/relationships/slide" Target="/ppt/slides/slide7.xml" Id="R9c98b71b50d841d1" /><Relationship Type="http://schemas.openxmlformats.org/officeDocument/2006/relationships/slide" Target="/ppt/slides/slide8.xml" Id="R39012183cab942ec" /><Relationship Type="http://schemas.openxmlformats.org/officeDocument/2006/relationships/slide" Target="/ppt/slides/slide9.xml" Id="R94da1b87d19a4aba" /><Relationship Type="http://schemas.openxmlformats.org/officeDocument/2006/relationships/slide" Target="/ppt/slides/slide10.xml" Id="R8ac9fefe5a154818" /><Relationship Type="http://schemas.openxmlformats.org/officeDocument/2006/relationships/slide" Target="/ppt/slides/slide11.xml" Id="Rd2af1630d9314a08" /><Relationship Type="http://schemas.openxmlformats.org/officeDocument/2006/relationships/slide" Target="/ppt/slides/slide12.xml" Id="Rfd5bcab44ef74f91" /><Relationship Type="http://schemas.openxmlformats.org/officeDocument/2006/relationships/slide" Target="/ppt/slides/slide13.xml" Id="R8cf8dabb428147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d3c27aab654d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8e71089e0a442b" /><Relationship Type="http://schemas.openxmlformats.org/officeDocument/2006/relationships/notesMaster" Target="/ppt/notesMasters/notesMaster1.xml" Id="Rb2506f57f7794f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11dc456b554d7f" /><Relationship Type="http://schemas.openxmlformats.org/officeDocument/2006/relationships/notesMaster" Target="/ppt/notesMasters/notesMaster1.xml" Id="R6c058ea57ec44b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443a1fa21645b3" /><Relationship Type="http://schemas.openxmlformats.org/officeDocument/2006/relationships/notesMaster" Target="/ppt/notesMasters/notesMaster1.xml" Id="R9614768e4ccb4c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f867f723a141e1" /><Relationship Type="http://schemas.openxmlformats.org/officeDocument/2006/relationships/notesMaster" Target="/ppt/notesMasters/notesMaster1.xml" Id="R77899da2d2f547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a80687144b4770" /><Relationship Type="http://schemas.openxmlformats.org/officeDocument/2006/relationships/notesMaster" Target="/ppt/notesMasters/notesMaster1.xml" Id="Rb4dbb2de6f134f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4b468419c3436a" /><Relationship Type="http://schemas.openxmlformats.org/officeDocument/2006/relationships/notesMaster" Target="/ppt/notesMasters/notesMaster1.xml" Id="Rea5f39febd4b4e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dacdcfe49d4c80" /><Relationship Type="http://schemas.openxmlformats.org/officeDocument/2006/relationships/notesMaster" Target="/ppt/notesMasters/notesMaster1.xml" Id="Rc15726fbc2be48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9469bcbc5b4b67" /><Relationship Type="http://schemas.openxmlformats.org/officeDocument/2006/relationships/notesMaster" Target="/ppt/notesMasters/notesMaster1.xml" Id="Rb152ab49d54446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27f853c06e462e" /><Relationship Type="http://schemas.openxmlformats.org/officeDocument/2006/relationships/notesMaster" Target="/ppt/notesMasters/notesMaster1.xml" Id="R78b084adc74c4d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cd3de46ef945d6" /><Relationship Type="http://schemas.openxmlformats.org/officeDocument/2006/relationships/notesMaster" Target="/ppt/notesMasters/notesMaster1.xml" Id="Rbf05669e2eda45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430a9acad74977" /><Relationship Type="http://schemas.openxmlformats.org/officeDocument/2006/relationships/notesMaster" Target="/ppt/notesMasters/notesMaster1.xml" Id="Rb689503c71cc46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83577f1bc047b6" /><Relationship Type="http://schemas.openxmlformats.org/officeDocument/2006/relationships/notesMaster" Target="/ppt/notesMasters/notesMaster1.xml" Id="Rb2923c9f811f4d7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59dd9c7cad4a8f" /><Relationship Type="http://schemas.openxmlformats.org/officeDocument/2006/relationships/notesMaster" Target="/ppt/notesMasters/notesMaster1.xml" Id="R5ff7ae50ef5a4b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fleet-dealer-global-decision / 테이블명세서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테이블명세서 · fleet-dealer-global-decision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fleet-dealer-global-decision 관계 분석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fleet-dealer-global-decision target schema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글로벌 확장 요구사항 · 테이블명세서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요구사항 질의서 · 테이블명세서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fleet-dealer-global-decision DDL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fleet-dealer-global-decision migration plan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fleet-dealer-global-decision migration SQL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fleet-dealer-global-decision query pattern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fleet-dealer-global-decision performance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fleet-dealer-global-decision validation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글로벌 DB 구조 결정사항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5fdbb7c7c40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ba3ca0b62e4028" /><Relationship Type="http://schemas.openxmlformats.org/officeDocument/2006/relationships/slideLayout" Target="/ppt/slideLayouts/slideLayout1.xml" Id="R9b86ec16ab1a47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86ec16ab1a47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d28e92a6e4fbe" /><Relationship Type="http://schemas.openxmlformats.org/officeDocument/2006/relationships/notesSlide" Target="/ppt/notesSlides/notesSlide1.xml" Id="R68429f9e371540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3bf68fadf4e7f" /><Relationship Type="http://schemas.openxmlformats.org/officeDocument/2006/relationships/notesSlide" Target="/ppt/notesSlides/notesSlide2.xml" Id="R402a3af192d241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b796dd76940d6" /><Relationship Type="http://schemas.openxmlformats.org/officeDocument/2006/relationships/notesSlide" Target="/ppt/notesSlides/notesSlide3.xml" Id="R67a8f526f82843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74cc7c1d04fab" /><Relationship Type="http://schemas.openxmlformats.org/officeDocument/2006/relationships/notesSlide" Target="/ppt/notesSlides/notesSlide4.xml" Id="Rf161b44d1b714b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aefc16225476b" /><Relationship Type="http://schemas.openxmlformats.org/officeDocument/2006/relationships/notesSlide" Target="/ppt/notesSlides/notesSlide5.xml" Id="R683b2a492ca743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09e2e981a442f" /><Relationship Type="http://schemas.openxmlformats.org/officeDocument/2006/relationships/notesSlide" Target="/ppt/notesSlides/notesSlide6.xml" Id="R8a69d971df0942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d1085abdc45a0" /><Relationship Type="http://schemas.openxmlformats.org/officeDocument/2006/relationships/notesSlide" Target="/ppt/notesSlides/notesSlide7.xml" Id="R7ac95f62ce504b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50e9caeec468b" /><Relationship Type="http://schemas.openxmlformats.org/officeDocument/2006/relationships/notesSlide" Target="/ppt/notesSlides/notesSlide8.xml" Id="R5cda844b968e4e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10840d3ab422a" /><Relationship Type="http://schemas.openxmlformats.org/officeDocument/2006/relationships/notesSlide" Target="/ppt/notesSlides/notesSlide9.xml" Id="R97357517359a44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d5b5119874164" /><Relationship Type="http://schemas.openxmlformats.org/officeDocument/2006/relationships/notesSlide" Target="/ppt/notesSlides/notesSlide10.xml" Id="R2fb2f6960e8945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b123e4dd44dc2" /><Relationship Type="http://schemas.openxmlformats.org/officeDocument/2006/relationships/notesSlide" Target="/ppt/notesSlides/notesSlide11.xml" Id="R90188532323047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f76961cff4202" /><Relationship Type="http://schemas.openxmlformats.org/officeDocument/2006/relationships/notesSlide" Target="/ppt/notesSlides/notesSlide12.xml" Id="R66d1b3e139bf40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4637d53d74737" /><Relationship Type="http://schemas.openxmlformats.org/officeDocument/2006/relationships/notesSlide" Target="/ppt/notesSlides/notesSlide13.xml" Id="R073ae2824aff43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BDF7A-AC34-419E-B771-FA33C2E9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B5F8C-BA26-4CBD-AFDA-7C357B60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Bobcat MACHINE IQ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DC578-ACE3-4DAB-899B-F733D932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DB 문서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플릿·딜러 글로벌 개발 아틀라스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1C3CE-6CCE-4672-BAAD-9D01FBA4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1D5DB"/>
                </a:solidFill>
              </a:defRPr>
            </a:pPr>
            <a:r>
              <a:rPr sz="1575" b="0">
                <a:solidFill>
                  <a:srgbClr val="D1D5DB"/>
                </a:solidFill>
              </a:rPr>
              <a:t>현재 테이블 구조의 문제, 관계 모델, 마이그레이션·쿼리·성능·결정사항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35FFE-66A7-4CB9-8783-5481D377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기준 문서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14E7C-AA0E-4201-8333-5C44BB29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fleet-dealer-global-decision / 테이블명세서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D5FA3-7002-4AF8-9858-F7770F42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150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CA3AF"/>
                </a:solidFill>
              </a:defRPr>
            </a:pPr>
            <a:r>
              <a:rPr sz="975" b="0">
                <a:solidFill>
                  <a:srgbClr val="9CA3AF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14976267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3ADD5E-7937-443C-8F79-5746B6A3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79E17-9D9A-4C01-A819-CBFCBA37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DB · CURRENT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E7DF0-E943-4354-9FAD-9B340B76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현행 구조 요약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8B489-3B19-4BCA-92CA-F7AD2CC2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D"/>
                </a:solidFill>
              </a:defRPr>
            </a:pPr>
            <a:r>
              <a:rPr sz="1125" b="0">
                <a:solidFill>
                  <a:srgbClr val="68707D"/>
                </a:solidFill>
              </a:rPr>
              <a:t>플릿·딜러·업체·차량 관계가 화면별 조건으로 분산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E7545-75B5-4ACE-8736-C3BFEEBA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07D"/>
                </a:solidFill>
              </a:defRPr>
            </a:pPr>
            <a:r>
              <a:rPr sz="975" b="1">
                <a:solidFill>
                  <a:srgbClr val="68707D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79062-F9ED-48F5-B878-71BDE82D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5BE4B-2230-4D1F-AB17-14506E8F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38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2A3DE-D75D-4C8D-87DC-62700621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12"/>
                </a:solidFill>
              </a:defRPr>
            </a:pPr>
            <a:r>
              <a:rPr sz="1350" b="1">
                <a:solidFill>
                  <a:srgbClr val="FF3B12"/>
                </a:solidFill>
              </a:rPr>
              <a:t>조직 식별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69736-BC89-49B1-8CDB-4B628574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138"/>
                </a:solidFill>
              </a:defRPr>
            </a:pPr>
            <a:r>
              <a:rPr sz="1200" b="0">
                <a:solidFill>
                  <a:srgbClr val="2E3138"/>
                </a:solidFill>
              </a:rPr>
              <a:t>업체·딜러·그룹이 서로 다른 ID와 컬럼으로 조회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90C446-75ED-43AC-BA98-9A0C4F31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5238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D725F-6910-4BBB-9A58-C17704FE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24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12"/>
                </a:solidFill>
              </a:defRPr>
            </a:pPr>
            <a:r>
              <a:rPr sz="1350" b="1">
                <a:solidFill>
                  <a:srgbClr val="FF3B12"/>
                </a:solidFill>
              </a:rPr>
              <a:t>차량 소속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35134-8931-4A0E-92E3-DA140941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138"/>
                </a:solidFill>
              </a:defRPr>
            </a:pPr>
            <a:r>
              <a:rPr sz="1200" b="0">
                <a:solidFill>
                  <a:srgbClr val="2E3138"/>
                </a:solidFill>
              </a:rPr>
              <a:t>차량 현재 소속 중심으로 과거 관계와 역할 표현 부족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B3994-2F33-4AFE-A4DD-53860CF7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5238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A56B6-6348-4861-AF48-BC2447AF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12"/>
                </a:solidFill>
              </a:defRPr>
            </a:pPr>
            <a:r>
              <a:rPr sz="1350" b="1">
                <a:solidFill>
                  <a:srgbClr val="FF3B12"/>
                </a:solidFill>
              </a:rPr>
              <a:t>글로벌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A090AA-75C5-4F05-9553-003A272E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138"/>
                </a:solidFill>
              </a:defRPr>
            </a:pPr>
            <a:r>
              <a:rPr sz="1200" b="0">
                <a:solidFill>
                  <a:srgbClr val="2E3138"/>
                </a:solidFill>
              </a:rPr>
              <a:t>국가·시간대·언어·단위 기준이 테이블마다 분산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9D2EEE-C8A0-4AAB-97A3-3FE12DE9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5238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10853A-E1DF-4990-AFC0-6BACFFE4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05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12"/>
                </a:solidFill>
              </a:defRPr>
            </a:pPr>
            <a:r>
              <a:rPr sz="1350" b="1">
                <a:solidFill>
                  <a:srgbClr val="FF3B12"/>
                </a:solidFill>
              </a:rPr>
              <a:t>업무 데이터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19B114-046D-4506-905E-9947D9FF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481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138"/>
                </a:solidFill>
              </a:defRPr>
            </a:pPr>
            <a:r>
              <a:rPr sz="1200" b="0">
                <a:solidFill>
                  <a:srgbClr val="2E3138"/>
                </a:solidFill>
              </a:rPr>
              <a:t>오류·정비·소모품에서 상태·완료 기준이 서로 다름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869C40-1A40-4AFC-AB81-548A9F46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85C787-2745-442E-B840-83E3AFAB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출처  테이블명세서 · fleet-dealer-global-decision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9E0BC0-5A5B-40F4-BBD9-F9D6D98A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1613372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13A445-8FDE-4D0E-B832-1FE53182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1E2A6-A071-46CA-956C-505AC912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DB · RELATION ISSUE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B880D-B9C3-425B-9B51-C729B075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플릿·딜러·업체·차량 관계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875D8-84AC-48F1-8FE3-BD0D4CFE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D"/>
                </a:solidFill>
              </a:defRPr>
            </a:pPr>
            <a:r>
              <a:rPr sz="1125" b="0">
                <a:solidFill>
                  <a:srgbClr val="68707D"/>
                </a:solidFill>
              </a:rPr>
              <a:t>하나의 차량이 여러 조직과 다른 역할로 연결될 수 있음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219B4-3C84-4643-A9B5-CE92DBCA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07D"/>
                </a:solidFill>
              </a:defRPr>
            </a:pPr>
            <a:r>
              <a:rPr sz="975" b="1">
                <a:solidFill>
                  <a:srgbClr val="68707D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4EC23-F07A-44D4-84BB-B1CDA30B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F7B53-1808-48AC-86BA-F3C9DD6F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38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A4519-8E7D-402E-B1D7-6D81075B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5353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B8CB0-32C2-4B06-8BCC-9DEDA761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3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07D"/>
          </a:solidFill>
          <a:ln xmlns:a="http://schemas.openxmlformats.org/drawingml/2006/main" w="0">
            <a:solidFill>
              <a:srgbClr val="68707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2343E-6EEE-4916-94F2-93F0529A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535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10DBA-3BBE-46D1-9158-84A87C13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현행 문제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43840-AB18-4440-A435-C67A2939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7625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company_id 또는 dealer_company_id 직접 참조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화면별 OR 조건 증가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재판매·양도 시 과거 소속 보존 어려움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딜러/고객/서비스 역할을 컬럼으로 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3E3DC3-3D06-4C4E-9406-4A99EA8B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필요 구조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24B05-CF53-4F9F-8ABE-923EB4A0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48577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organization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equipment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equipment_organization_relation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relation_type: OWNER / DEALER / SERVICE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valid_from / valid_to로 기간 보존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7149FF-912B-4C1B-A84C-754ABD8E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6A7CFE-2498-4572-96CA-6BFF10B2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출처  fleet-dealer-global-decision 관계 분석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D0A6C9-315F-4822-BFE4-3BB4ACAB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10815923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87783F-B9C6-49BA-99B7-EA7FC6E7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C732D-E74F-4015-93FD-9E2E0FD9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DB · TARGET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DDC99-816D-45F9-9F15-E52D2CEB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권장 관계 모델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DE02F-904F-4D53-A32B-0FA4BC7F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D"/>
                </a:solidFill>
              </a:defRPr>
            </a:pPr>
            <a:r>
              <a:rPr sz="1125" b="0">
                <a:solidFill>
                  <a:srgbClr val="68707D"/>
                </a:solidFill>
              </a:rPr>
              <a:t>조직과 차량의 관계를 역할·유효기간으로 관리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BB76C-E84D-4C31-9A52-18709B60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07D"/>
                </a:solidFill>
              </a:defRPr>
            </a:pPr>
            <a:r>
              <a:rPr sz="975" b="1">
                <a:solidFill>
                  <a:srgbClr val="68707D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2EA03-2082-42F7-B283-FB5D3478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D0A837-8D36-4D03-A7CF-D5ADAC47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핵심 테이블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59511-F999-4984-B6A3-EA7D5588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327"/>
          </a:solidFill>
          <a:ln xmlns:a="http://schemas.openxmlformats.org/drawingml/2006/main" w="9525">
            <a:solidFill>
              <a:srgbClr val="2023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B6C7C-BDE0-4261-88AF-5D7E9D28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04394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organization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- organization_id PK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- organization_type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- country_code · timezone · locale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equipment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- equipment_id PK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- serial_no · model_code · power_type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equipment_organization_relation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- equipment_id FK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- organization_id FK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- relation_type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- valid_from · valid_to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2CA5A6-994E-47CE-9570-EAAB6A76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8B566-1803-4D2D-938B-4B875AD6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출처  fleet-dealer-global-decision target schema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C5F92-5677-4589-A08F-99F47004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19825687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6B8B010-20CA-4AC7-B16A-8F084F88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C62E6-38F4-43A5-922D-A80C4507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DB · GLOBAL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A5AF6-62F8-4917-A926-41E47AC2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글로벌 공통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9422D-922E-4D9F-A06D-0DA1283D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D"/>
                </a:solidFill>
              </a:defRPr>
            </a:pPr>
            <a:r>
              <a:rPr sz="1125" b="0">
                <a:solidFill>
                  <a:srgbClr val="68707D"/>
                </a:solidFill>
              </a:rPr>
              <a:t>표시 언어와 데이터 저장 기준을 분리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EA20F-8DCD-4BC1-ADFE-7DB0CA72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07D"/>
                </a:solidFill>
              </a:defRPr>
            </a:pPr>
            <a:r>
              <a:rPr sz="975" b="1">
                <a:solidFill>
                  <a:srgbClr val="68707D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DCEA0-1484-4C6B-8ADA-BA5230EE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73485-564D-448C-9226-BD67FFCC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E9644-4BB8-4792-B70B-7D9607B6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81175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항목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71315-0D37-41AD-9CE8-A09E2F2A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526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F9348-D58A-4EB2-B646-8884E844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81175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저장 기준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C07395-C917-4E98-B718-E7FD00AC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526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9237C-2D22-4A96-AB4A-3E63F999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81175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화면 변환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D20F8-FD80-4B05-BF67-FD8C5B37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486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EE1ED9-A3EC-4E7C-8F47-C23FAABB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811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결정 필요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D8533A-CD97-4CBD-AB32-EAC66181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60B00E-FF12-4707-A993-5989DF80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812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시간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212C7-997F-4BB7-8912-22527769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526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E9DB3F-65C6-4672-A8B8-DB43192E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181225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UTC datetime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677F13-4833-46B0-AD69-B0786DF5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526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D12184-101A-43F8-85F0-193D794F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181225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사용자 timezone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1657F7-95E3-4391-978A-FDF7BC48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52650"/>
            <a:ext cx="3486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D40BC8-E80A-4055-81F4-965E35BB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181225"/>
            <a:ext cx="331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국가·법인 기본 timezone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A5C834-5E39-4681-B5CA-6BDB8EB0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00573A-78CF-4BC2-A4EE-EA90B289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3367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언어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5A228F-83AE-4C96-826A-2D60113D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051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4E2964-2D99-4810-A37E-6092344F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733675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code/messageKey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FD657E-F32D-489D-8591-A40AA287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051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046E10-8FBF-43D1-BC28-FD078F24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733675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locale 번역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02B93B-8BEA-4D9D-94A2-105F0796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05100"/>
            <a:ext cx="3486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3BC7E8-FC12-470D-B7D6-12533732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733675"/>
            <a:ext cx="331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지원 언어·fallback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D16A1C-1211-4B8B-AB5B-7E546404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CC6CFC-3992-42DF-BC87-839C63FB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861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단위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A5903F-80A3-4E3A-B883-88FF1E39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575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FB3218-4D96-442A-AD7E-13FEF91D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286125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SI 또는 원천 단위+unit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04AF4C-D074-42D6-9CB8-13EDCE74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575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CA8B79-1B5B-4B39-830D-200669F2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286125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km/mile, °C/°F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318D9A-F273-46AD-8ACF-078D7C09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57550"/>
            <a:ext cx="3486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C1812A-B6D1-4DEF-850F-7DED5849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286125"/>
            <a:ext cx="331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국가·사용자 단위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C3B076-E340-4357-A588-F765FB00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3F95F6-45CE-4644-9030-DCA4D616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3857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조직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D6D7A1-7E4A-429F-9167-BE723AE0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100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2C1254-A70E-42DB-A930-CF8B777A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838575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organization_id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2BC985-0111-4FA3-88F2-BE32747D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100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078DD7-C735-49E2-BC61-E0858835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838575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역할별 조회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A73A49-F577-40BA-865D-6F0432C7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10000"/>
            <a:ext cx="3486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EF771E-DCA1-47F1-A703-AC79CCEE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838575"/>
            <a:ext cx="331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딜러·고객 중복 관계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E435B9-F001-46FF-9A01-DB0E39A6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FFF795-58A6-4207-9C51-C83DB10F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910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통화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924D5A-A38B-419A-9D6D-98E505F2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624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8C38BBE-B304-409C-8268-0A4281C9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391025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currency_code+decimal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219685-0D16-4EB3-BFB2-AA2B5839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3624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172BDA-0ABE-4671-80DC-231463AC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391025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locale format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B2DC465-AF49-42BF-980E-92B4477B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62450"/>
            <a:ext cx="3486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7595B80-468D-438F-94A5-3F3077FF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391025"/>
            <a:ext cx="331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정산 화면 적용 범위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BA32BAA-FA95-4EE1-BC6A-4433969E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459B285-9F90-4336-BDA0-B6C86E2A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출처  글로벌 확장 요구사항 · 테이블명세서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4CD3BC6-9D82-4C84-8179-CCC796C3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3137797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433F88-99F8-4C16-B5A9-BC671661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84B8A-733E-4796-B684-5FC7F405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DB · SERVICE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A7388-85D6-4EF5-84AE-CFD05892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오류·정비·소모품 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6CC2E-4C51-489B-B392-F1FAED11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D"/>
                </a:solidFill>
              </a:defRPr>
            </a:pPr>
            <a:r>
              <a:rPr sz="1125" b="0">
                <a:solidFill>
                  <a:srgbClr val="68707D"/>
                </a:solidFill>
              </a:rPr>
              <a:t>화면 요구사항의 완료·구분·PDF·수리 ID를 데이터로 구분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ADE1B-3E5A-40FC-92B9-6AD30F22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07D"/>
                </a:solidFill>
              </a:defRPr>
            </a:pPr>
            <a:r>
              <a:rPr sz="975" b="1">
                <a:solidFill>
                  <a:srgbClr val="68707D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5B104-82C3-427B-BD24-A59F0A62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864E5-63EC-42F5-A9DA-DFD24DD5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DBD9C-9151-42B9-8D86-36B285DC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81175"/>
            <a:ext cx="1276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도메인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1D669-B0B3-4523-90D1-304D7E1E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526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9F60C-DF0C-4D09-8741-4C272647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81175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필수 컬럼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0EF98-EE7A-48E5-960D-E25DCCF9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526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EE0B4-1068-4609-8069-DDB574DE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81175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문제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BA0D31-9F1D-43A4-8CB9-E17E6A9A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5260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B5A6F-4A31-4DDA-8A56-8BB2C3E6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811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조치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B5AF9A-DA3E-428E-8F44-D0378BB5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A0BD4-813B-429E-B074-21994905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81225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오류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BA2F23-0987-47D1-80C5-B58DF039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526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6ED4ED-5640-4C72-B37C-048CEAAD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181225"/>
            <a:ext cx="3257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error_id, type, code, spn, fmi, occurred_at, cleared_at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8DFC82-09AD-4F55-B08F-0AF02E0D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526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53150B-003F-4AF7-942D-39F50C2C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181225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차량/배터리 구분과 완료 기준 혼재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98C7B9-FD0A-4A6F-9062-B6B35198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81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2BA64F-E376-42DC-9B6F-D796C2DE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181225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error_type·status 정의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10F059-4F2E-44D8-88B5-F6DE75C3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E937FA-0E26-42DA-AEB2-DFB4CAC5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33675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정비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E39B2E-D862-4ACB-8774-2783F2C5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051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72DA36-A8F1-4709-A39C-A520BBE2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733675"/>
            <a:ext cx="3257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repair_id, claim_no, received_at, completed_at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7DB1D7-8D5A-474E-8B6C-3F2EA473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051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5B5EE0-493E-4877-9471-7DE60DA4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33675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Claim 번호 출처 불명확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961B5C-D9C4-42AF-BD97-DFCE27E3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05100"/>
            <a:ext cx="281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77F90D-E7AC-4164-A84A-24F4E16F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733675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repair_id와 claim_no 분리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F1E614-A45A-4E00-BC39-393984BB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596BF8-61FA-405D-BD48-7DF032E6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86125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소모품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3693DD-4CFD-45DA-B94D-4234491B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575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210341-A7E3-498B-BDEF-C19DC3F7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286125"/>
            <a:ext cx="3257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item_id, cycle, used_hour, replaced_at, action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134FC3-995C-4305-A4BC-91398530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575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9BB976-7DDA-47A7-AC8F-0DC4203F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286125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교환완료·리셋 기록 부족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9C9995-77D9-4014-8DA7-86BF2B6E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57550"/>
            <a:ext cx="281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1BB696-6FF8-4F83-BE35-E34C4357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286125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교환 이력 테이블 추가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F79380-C384-4AF3-AD34-A2888FB2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006D6D-8438-4CE4-907E-CB1D7AAA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38575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PDF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3AFE0A-3C2D-4FE1-BF7E-8B187355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00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B49EE2-E9F7-4E76-BEDB-7581ABB1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838575"/>
            <a:ext cx="3257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error_code, locale, version, url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A032BF-F596-4A01-B633-B0BE848F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8100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35B8B3-8FD8-41F1-AD51-DEFAAEFB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838575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언어·버전 우선순위 없음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8A3236-ED80-485D-B33A-82F44A90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10000"/>
            <a:ext cx="281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FDBE93-F89C-4DF0-9284-A8911FC6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838575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문서 메타 테이블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95030A-BCBA-4A6C-BF83-088C42A6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7F4FCC-CF4E-4B96-BC36-2827E2D1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출처  요구사항 질의서 · 테이블명세서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E87BCB-6290-4AD1-90D2-A0AD3C07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9631226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BCD6F-FACE-49B6-8E6A-9419AEB0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9B4B89-47DB-4996-92F7-0E5D998C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DB · DDL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E4BEC-CB28-40CA-B838-F7E44622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관계 테이블 추가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8C554-B169-4137-84AB-B5AC597E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D"/>
                </a:solidFill>
              </a:defRPr>
            </a:pPr>
            <a:r>
              <a:rPr sz="1125" b="0">
                <a:solidFill>
                  <a:srgbClr val="68707D"/>
                </a:solidFill>
              </a:rPr>
              <a:t>기존 컬럼을 즉시 제거하지 않고 병행 운영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F7297-2636-48B3-B539-97D2C791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07D"/>
                </a:solidFill>
              </a:defRPr>
            </a:pPr>
            <a:r>
              <a:rPr sz="975" b="1">
                <a:solidFill>
                  <a:srgbClr val="68707D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8D6E0-2129-4A58-A279-51BB21DC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65E3F-568A-48A1-9E8E-42971F5C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DDL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0BF65-4646-4E32-86FA-D3E4C392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327"/>
          </a:solidFill>
          <a:ln xmlns:a="http://schemas.openxmlformats.org/drawingml/2006/main" w="9525">
            <a:solidFill>
              <a:srgbClr val="2023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4CF14-10CD-43C9-8F0F-08A36E2F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04394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CREATE TABLE equipment_organization_relation (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relation_id BIGINT PRIMARY KEY,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equipment_id VARCHAR(64) NOT NULL,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organization_id BIGINT NOT NULL,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relation_type VARCHAR(20) NOT NULL,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valid_from TIMESTAMP NOT NULL,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valid_to TIMESTAMP NULL,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created_at TIMESTAMP NOT NULL,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UNIQUE (equipment_id, organization_id, relation_type, valid_from)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);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570D8-50A7-426F-90B5-025BA85C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FA6CA-7644-4357-B9D6-28961201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출처  fleet-dealer-global-decision DDL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5307B5-748B-4438-B757-2E02DB85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11050472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86F1AD-68DC-487B-90D6-2EFC1D55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55B18-61AB-4509-BBE0-5EDD6558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DB · MIGRATION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878BB-A986-432C-9F2D-21932B4A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데이터 마이그레이션 범위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88BF8-61A2-4DAA-91ED-4C8C6180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D"/>
                </a:solidFill>
              </a:defRPr>
            </a:pPr>
            <a:r>
              <a:rPr sz="1125" b="0">
                <a:solidFill>
                  <a:srgbClr val="68707D"/>
                </a:solidFill>
              </a:rPr>
              <a:t>현행 차량 소속과 딜러 관계를 신규 관계 테이블에 이관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9CB68-BD62-4F39-821A-441856B5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07D"/>
                </a:solidFill>
              </a:defRPr>
            </a:pPr>
            <a:r>
              <a:rPr sz="975" b="1">
                <a:solidFill>
                  <a:srgbClr val="68707D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72683-D9CE-4C83-9EC3-4BA27AAA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5C026-3D34-49D9-8DCD-71F28201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38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6F0D4-93FF-422C-93CB-0D88B6C3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12"/>
                </a:solidFill>
              </a:defRPr>
            </a:pPr>
            <a:r>
              <a:rPr sz="1350" b="1">
                <a:solidFill>
                  <a:srgbClr val="FF3B12"/>
                </a:solidFill>
              </a:rPr>
              <a:t>1. 기준 확정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52D5F-3E8D-4C00-BAB5-C3E8691F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138"/>
                </a:solidFill>
              </a:defRPr>
            </a:pPr>
            <a:r>
              <a:rPr sz="1200" b="0">
                <a:solidFill>
                  <a:srgbClr val="2E3138"/>
                </a:solidFill>
              </a:rPr>
              <a:t>조직 유형, 관계 유형, 중복·우선순위 결정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4AF34-0945-411A-AF69-6ECFE5DF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5238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D78C1-C626-4708-AFEE-F523C404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24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12"/>
                </a:solidFill>
              </a:defRPr>
            </a:pPr>
            <a:r>
              <a:rPr sz="1350" b="1">
                <a:solidFill>
                  <a:srgbClr val="FF3B12"/>
                </a:solidFill>
              </a:rPr>
              <a:t>2. 초기 적재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D1E01-57D6-40CD-9E4D-E5803B75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138"/>
                </a:solidFill>
              </a:defRPr>
            </a:pPr>
            <a:r>
              <a:rPr sz="1200" b="0">
                <a:solidFill>
                  <a:srgbClr val="2E3138"/>
                </a:solidFill>
              </a:rPr>
              <a:t>현재 company_id를 OWNER, dealer_company_id를 DEALER로 생성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B82F8-116D-4B49-945C-8AB45839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5238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F49A4-DEEB-442E-8796-B5F8CFC9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12"/>
                </a:solidFill>
              </a:defRPr>
            </a:pPr>
            <a:r>
              <a:rPr sz="1350" b="1">
                <a:solidFill>
                  <a:srgbClr val="FF3B12"/>
                </a:solidFill>
              </a:rPr>
              <a:t>3.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05906-5AD4-4A19-AF30-7C7E4AB1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138"/>
                </a:solidFill>
              </a:defRPr>
            </a:pPr>
            <a:r>
              <a:rPr sz="1200" b="0">
                <a:solidFill>
                  <a:srgbClr val="2E3138"/>
                </a:solidFill>
              </a:rPr>
              <a:t>차량별 활성 OWNER 1건, 딜러 다건 허용 여부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36ADA4-41AA-4E4C-802C-36A4F1F9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5238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6A0B58-4895-40D9-B405-5B22556C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05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12"/>
                </a:solidFill>
              </a:defRPr>
            </a:pPr>
            <a:r>
              <a:rPr sz="1350" b="1">
                <a:solidFill>
                  <a:srgbClr val="FF3B12"/>
                </a:solidFill>
              </a:rPr>
              <a:t>4. 병행 운영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4ABFED-AEEB-4A67-BC7E-64907C60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481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138"/>
                </a:solidFill>
              </a:defRPr>
            </a:pPr>
            <a:r>
              <a:rPr sz="1200" b="0">
                <a:solidFill>
                  <a:srgbClr val="2E3138"/>
                </a:solidFill>
              </a:rPr>
              <a:t>기존 FK와 신규 관계를 동시 조회한 뒤 차이 0건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322FEB-B4B3-46C0-87E4-FDF9BCB4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646AB4-03C1-4637-84FE-0F8D448F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출처  fleet-dealer-global-decision migration 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205811-50CB-44B9-8BD5-C11F35BF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2362439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F3610-BD6C-406D-96F6-2ED3C9EB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7C6B8-CB00-4F04-95D8-E3E3CCDE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DB · MIGRATION 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49FEA-0EAD-4FBF-949E-0E59AC39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초기 적재 쿼리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47136-5593-4A4B-9E4A-7647EF95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D"/>
                </a:solidFill>
              </a:defRPr>
            </a:pPr>
            <a:r>
              <a:rPr sz="1125" b="0">
                <a:solidFill>
                  <a:srgbClr val="68707D"/>
                </a:solidFill>
              </a:rPr>
              <a:t>실제 컬럼명 확정 후 테이블명세서에 맞게 치환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A7FFF-44C7-40E4-9C11-7E97B8D5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07D"/>
                </a:solidFill>
              </a:defRPr>
            </a:pPr>
            <a:r>
              <a:rPr sz="975" b="1">
                <a:solidFill>
                  <a:srgbClr val="68707D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185D9-7B48-4078-A4A5-AD2D1FDF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4D3F8-1C30-4512-A07D-B61BD465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SQL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55086-CF75-4282-8CBC-E2133236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327"/>
          </a:solidFill>
          <a:ln xmlns:a="http://schemas.openxmlformats.org/drawingml/2006/main" w="9525">
            <a:solidFill>
              <a:srgbClr val="2023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84F6A-CF5B-4A6D-A32F-3091EA06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04394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INSERT INTO equipment_organization_relation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(equipment_id, organization_id, relation_type, valid_from, created_at)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SELECT e.equipment_id, e.company_id, 'OWNER', COALESCE(e.created_at, CURRENT_TIMESTAMP), CURRENT_TIMESTAMP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FROM equipment e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WHERE e.company_id IS NOT NULL;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INSERT INTO equipment_organization_relation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(equipment_id, organization_id, relation_type, valid_from, created_at)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SELECT e.equipment_id, e.dealer_company_id, 'DEALER', COALESCE(e.created_at, CURRENT_TIMESTAMP), CURRENT_TIMESTAMP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FROM equipment e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WHERE e.dealer_company_id IS NOT NULL;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E98AD-7481-47A9-BBFC-BC6636BB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EC9A7-6484-4BBE-82EE-343B3DE4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출처  fleet-dealer-global-decision migration 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8E59A-B163-4198-9C61-2CCE357F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19245323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11189-7B6C-47B6-BB2E-B3C2A312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BAEF2-30B1-4643-A475-16D2A62F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DB · QUERY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296F3-D96E-45E0-ABCF-876A9875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화면 조회 쿼리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2B640-0A8E-4EB2-ABBB-05CF6D9E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D"/>
                </a:solidFill>
              </a:defRPr>
            </a:pPr>
            <a:r>
              <a:rPr sz="1125" b="0">
                <a:solidFill>
                  <a:srgbClr val="68707D"/>
                </a:solidFill>
              </a:rPr>
              <a:t>관계 범위를 먼저 좁힌 뒤 운영·서비스 데이터와 조인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B55A0-0848-4EB5-A73B-0D4B8460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07D"/>
                </a:solidFill>
              </a:defRPr>
            </a:pPr>
            <a:r>
              <a:rPr sz="975" b="1">
                <a:solidFill>
                  <a:srgbClr val="68707D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E6C69-0FC7-4949-A920-06792945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E328C-0F6C-4E6A-9C5C-109F8011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공통 조회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887CF-821F-4323-95DE-30A48268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327"/>
          </a:solidFill>
          <a:ln xmlns:a="http://schemas.openxmlformats.org/drawingml/2006/main" w="9525">
            <a:solidFill>
              <a:srgbClr val="2023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F32A6-46C9-407C-95E8-C5982602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04394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SELECT e.*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FROM equipment_organization_relation r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JOIN equipment e ON e.equipment_id = r.equipment_id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WHERE r.organization_id = :organizationId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AND r.relation_type IN (:relationTypes)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AND r.valid_from &lt;= :asOf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AND (r.valid_to IS NULL OR r.valid_to &gt; :asOf);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-- 이후 화면별 operating / error / maintenance / supply 테이블 조인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077E3-AA78-49C0-A6A5-C1EC98E4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4E307-451A-447F-A220-FE5BFD89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출처  fleet-dealer-global-decision query pattern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55B7A-BB9E-465E-89E3-20781C69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18382551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548AEE-0337-42E9-9E1F-056F6232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5523D-6ECA-4CEF-8FAC-1B04349D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DB · INDEX /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8DF3B-7A3E-4A08-93BA-EBBEB199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인덱스와 집계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72873-BB02-4E71-9473-CFEEBAA4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D"/>
                </a:solidFill>
              </a:defRPr>
            </a:pPr>
            <a:r>
              <a:rPr sz="1125" b="0">
                <a:solidFill>
                  <a:srgbClr val="68707D"/>
                </a:solidFill>
              </a:rPr>
              <a:t>관계 조회 범위와 날짜 조건을 인덱스로 고정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9F2DE-BD84-423D-A86C-548ACE6C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07D"/>
                </a:solidFill>
              </a:defRPr>
            </a:pPr>
            <a:r>
              <a:rPr sz="975" b="1">
                <a:solidFill>
                  <a:srgbClr val="68707D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AA3DA-0C75-41C2-9E71-90123FDA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94BE7-BFEF-45DB-B602-56A075AF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AB222-4529-4891-8EBF-704A5256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81175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인덱스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C830C-932F-46F3-970A-D90D11C9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526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2DE84-B0C8-48A7-89F8-A273DCBA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81175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용도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393BB-640D-4C7C-833F-C84C392B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526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F88ED-7BAB-4BF8-BAA3-0BC3D4F7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8117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비고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DD781-6448-4460-8DD7-DDE5ECA7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024C8-DF23-4AA3-9FBA-42FD93CA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81225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(organization_id, relation_type, valid_to, equipment_id)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2B3E3-BAB2-4251-BA18-1BB90F69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526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297AC8-0B40-4808-B422-C97089EA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181225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업체·딜러별 차량 목록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B7295C-A3B0-464F-9F0A-94E7352A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52650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6E6119-01DD-4C26-A5C1-C6374B9E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181225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활성 관계 우선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30E039-F8FB-4C55-9928-6C36882C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0CF180-9793-4AD6-8129-C27BD824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33675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(equipment_id, relation_type, valid_to, organization_id)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C2E253-608D-433A-A88E-39744647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051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169934-9D61-46C3-951B-AB467C00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733675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차량 상세의 조직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E50C03-1AA5-49C1-88F3-04E88A2F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05100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8EC007-F6B7-4B45-8CFE-9F072AAC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33675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차량 선택 진입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C11C13-9AFD-437A-9E14-68FFC396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44F1D4-EF67-4944-8B01-BC383198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86125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(equipment_id, occurred_at)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94D2B7-B761-4E0E-9D5D-3A4DF97B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575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A57104-3558-497C-81B1-843F3277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286125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오류·운행 이력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DCB9CD-72F1-4A01-9DEA-DAA6F938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57550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F1939E-7768-4D26-86FA-E5CEC77D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86125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기간 조회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79DEB9-ACE4-42A8-B54A-E51C4366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6FCAB1-B33E-4FC4-AF6A-E861BEE9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38575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(organization_id, date, metric_type)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44183A-1B14-4D43-AE3F-57B3202D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100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473F1E-9241-4611-A4C4-C5C75B10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838575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대시보드 집계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322B0C-B03F-4062-96EA-720B2837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10000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9BCD0D-EFA7-4DF5-BC0A-B7A44E71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838575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일/월 요약 또는 캐시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38D5B0-F4E1-4509-B2A7-45B3612F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A31F19-4E03-4448-929B-C5032DE5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91025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(locale, error_code, version)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5CE2A8-1882-4BD0-9380-81D1AB29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624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4DBA2C-9D4B-489E-9E7E-41523166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391025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PDF·오류 안내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F6D208-C863-402C-8BB0-31248A34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62450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52D8E5-26D3-4C24-A05B-F3F34E4B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391025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언어 fallback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FDAA1D-AACC-4EC4-863B-AF387D77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4FFC8D-186A-4798-B94D-4917ED24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출처  fleet-dealer-global-decision performance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55A2AA-309B-43CA-B918-4CC36292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4768453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7F2424-1F42-4FC2-BCD0-B9EFC6DD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6BF4B-F6F7-4E04-A94B-1F87D904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DB · VALIDATION / ROLLBACK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18455-A5B8-4E30-8633-F6223F45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검증·롤백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CD4F1-28D4-4562-B9D2-FCFC46FB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D"/>
                </a:solidFill>
              </a:defRPr>
            </a:pPr>
            <a:r>
              <a:rPr sz="1125" b="0">
                <a:solidFill>
                  <a:srgbClr val="68707D"/>
                </a:solidFill>
              </a:rPr>
              <a:t>신규 관계 적용 전후의 조회 결과를 비교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8E707-B184-487D-BB82-AED53086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07D"/>
                </a:solidFill>
              </a:defRPr>
            </a:pPr>
            <a:r>
              <a:rPr sz="975" b="1">
                <a:solidFill>
                  <a:srgbClr val="68707D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4E494-D5FC-4178-9E4A-B8727276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6378C-AA50-4427-BF1E-BDA2EF5E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38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809F2-EF96-41D3-ABCF-841FBE56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5353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6B717-0BF0-47E9-BF83-CFF21834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3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07D"/>
          </a:solidFill>
          <a:ln xmlns:a="http://schemas.openxmlformats.org/drawingml/2006/main" w="0">
            <a:solidFill>
              <a:srgbClr val="68707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8451E-ED96-41A1-B02D-4247C689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535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9CC935-CBB4-49D6-B2B4-F453C863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검증 항목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E5F80-CB54-40E0-BFBC-40ADA043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7625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차량 수·업체 수 일치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차량별 활성 OWNER 중복 0건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플릿·딜러 화면별 목록 일치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재판매 차량 과거 관계 보존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기간·시간대 집계 결과 일치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B553C2-CD3D-484B-91EA-185AE662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롤백 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34B83F-D36C-4DA9-8393-6D1CE8E6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48577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차이 건수 허용치 초과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조회 성능 기준 미달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권한 범위 확장 또는 누락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마이그레이션 중복·고아 관계 발생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기존 FK 조회로 즉시 전환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F07D1C-AAAF-42C5-9C76-AEA9F5D4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D52D7-624F-4E98-A6BD-D9D6A021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출처  fleet-dealer-global-decision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BE98D-8E58-4AA1-8114-D8F5597C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21325975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9BF42D-3959-491A-9107-0811C2A1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659A8-0EA3-480D-966E-19BBBEA2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DB ·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2CE90-F95D-4E40-A327-A6B66689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착수 전 결정사항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EC693-1E95-4946-9055-E691DDF1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D"/>
                </a:solidFill>
              </a:defRPr>
            </a:pPr>
            <a:r>
              <a:rPr sz="1125" b="0">
                <a:solidFill>
                  <a:srgbClr val="68707D"/>
                </a:solidFill>
              </a:rPr>
              <a:t>데이터 구조와 화면 동작이 함께 확정되어야 하는 항목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150C5-B7D8-47E3-A178-ED8C7218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07D"/>
                </a:solidFill>
              </a:defRPr>
            </a:pPr>
            <a:r>
              <a:rPr sz="975" b="1">
                <a:solidFill>
                  <a:srgbClr val="68707D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CB340-0A08-45E1-BCD0-00D57D88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2F8BD-06D5-42B9-A7AA-BEE02004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38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B7713-F795-4960-8CF6-FE2EB024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12"/>
                </a:solidFill>
              </a:defRPr>
            </a:pPr>
            <a:r>
              <a:rPr sz="1350" b="1">
                <a:solidFill>
                  <a:srgbClr val="FF3B12"/>
                </a:solidFill>
              </a:rPr>
              <a:t>관계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E41C9-056F-452E-853D-477401BA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138"/>
                </a:solidFill>
              </a:defRPr>
            </a:pPr>
            <a:r>
              <a:rPr sz="1200" b="0">
                <a:solidFill>
                  <a:srgbClr val="2E3138"/>
                </a:solidFill>
              </a:rPr>
              <a:t>차량의 OWNER·DEALER·SERVICE 동시 관계 허용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23787-BB0E-4367-A31D-7FD5C224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5238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31443-940C-4285-9F97-9CCAB44F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24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12"/>
                </a:solidFill>
              </a:defRPr>
            </a:pPr>
            <a:r>
              <a:rPr sz="1350" b="1">
                <a:solidFill>
                  <a:srgbClr val="FF3B12"/>
                </a:solidFill>
              </a:rPr>
              <a:t>시간·글로벌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3EDAC-1A15-4A7D-AD87-C88A84B0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138"/>
                </a:solidFill>
              </a:defRPr>
            </a:pPr>
            <a:r>
              <a:rPr sz="1200" b="0">
                <a:solidFill>
                  <a:srgbClr val="2E3138"/>
                </a:solidFill>
              </a:rPr>
              <a:t>UTC 저장, 사용자 timezone, locale·단위 fallback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F6CA12-2448-4022-AB30-C9F529FF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5238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69D190-1FD8-4130-A11F-9E66C0BA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12"/>
                </a:solidFill>
              </a:defRPr>
            </a:pPr>
            <a:r>
              <a:rPr sz="1350" b="1">
                <a:solidFill>
                  <a:srgbClr val="FF3B12"/>
                </a:solidFill>
              </a:rPr>
              <a:t>업무 상태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4ABFD-A683-49CE-BD39-FCC5F6AD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138"/>
                </a:solidFill>
              </a:defRPr>
            </a:pPr>
            <a:r>
              <a:rPr sz="1200" b="0">
                <a:solidFill>
                  <a:srgbClr val="2E3138"/>
                </a:solidFill>
              </a:rPr>
              <a:t>오류 완료, 정비 완료, 소모품 교환 완료의 상태 정의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76238-2B9D-45E6-8AD9-B2CC1BE3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5238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0357D-2952-4F13-8972-C8FC6679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05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12"/>
                </a:solidFill>
              </a:defRPr>
            </a:pPr>
            <a:r>
              <a:rPr sz="1350" b="1">
                <a:solidFill>
                  <a:srgbClr val="FF3B12"/>
                </a:solidFill>
              </a:rPr>
              <a:t>전환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079ADB-4D50-4EA6-8490-15D06D69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481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138"/>
                </a:solidFill>
              </a:defRPr>
            </a:pPr>
            <a:r>
              <a:rPr sz="1200" b="0">
                <a:solidFill>
                  <a:srgbClr val="2E3138"/>
                </a:solidFill>
              </a:rPr>
              <a:t>병행 운영 기간, 검증 기준, 기존 컬럼 제거 시점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61002A-C0BB-4531-B07E-F53C7883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7B2EFA-CE7F-4F62-A660-09A33629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출처  글로벌 DB 구조 결정사항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1F6281-35A7-4312-A62A-2C478E98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4417986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2026-08-29T07:54:16.6520000Z</dcterms:created>
  <dcterms:modified xsi:type="dcterms:W3CDTF">2026-08-29T07:54:16.6520000Z</dcterms:modified>
</coreProperties>
</file>