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6559b12c3742fc" /><Relationship Type="http://schemas.openxmlformats.org/officeDocument/2006/relationships/extended-properties" Target="/docProps/app.xml" Id="R2549833466f74789" /><Relationship Type="http://schemas.openxmlformats.org/officeDocument/2006/relationships/officeDocument" Target="/ppt/presentation.xml" Id="R361785b1e58d4c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eaa76d835d4629"/>
  </p:sldMasterIdLst>
  <p:notesMasterIdLst>
    <p:notesMasterId xmlns:r="http://schemas.openxmlformats.org/officeDocument/2006/relationships" r:id="Rb4496426324247fc"/>
  </p:notesMasterIdLst>
  <p:sldIdLst>
    <p:sldId xmlns:r="http://schemas.openxmlformats.org/officeDocument/2006/relationships" id="256" r:id="R0fb0535ab83f41fb"/>
    <p:sldId xmlns:r="http://schemas.openxmlformats.org/officeDocument/2006/relationships" id="257" r:id="R4b0aa9215cc94db7"/>
    <p:sldId xmlns:r="http://schemas.openxmlformats.org/officeDocument/2006/relationships" id="258" r:id="Rbbc487c4b4104401"/>
    <p:sldId xmlns:r="http://schemas.openxmlformats.org/officeDocument/2006/relationships" id="259" r:id="Rf0f93edce5e048cd"/>
    <p:sldId xmlns:r="http://schemas.openxmlformats.org/officeDocument/2006/relationships" id="260" r:id="Rb4d442865be84f12"/>
    <p:sldId xmlns:r="http://schemas.openxmlformats.org/officeDocument/2006/relationships" id="261" r:id="R80105d636f0f490f"/>
    <p:sldId xmlns:r="http://schemas.openxmlformats.org/officeDocument/2006/relationships" id="262" r:id="R8caaf8970ce345e7"/>
    <p:sldId xmlns:r="http://schemas.openxmlformats.org/officeDocument/2006/relationships" id="263" r:id="R538d2f0f505b433a"/>
    <p:sldId xmlns:r="http://schemas.openxmlformats.org/officeDocument/2006/relationships" id="264" r:id="R0867446fcb164f7d"/>
    <p:sldId xmlns:r="http://schemas.openxmlformats.org/officeDocument/2006/relationships" id="265" r:id="R30d1367020be4079"/>
    <p:sldId xmlns:r="http://schemas.openxmlformats.org/officeDocument/2006/relationships" id="266" r:id="R7363f585a0074500"/>
    <p:sldId xmlns:r="http://schemas.openxmlformats.org/officeDocument/2006/relationships" id="267" r:id="R0ed04232fff440d3"/>
    <p:sldId xmlns:r="http://schemas.openxmlformats.org/officeDocument/2006/relationships" id="268" r:id="Re9e4c9198e224a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c33c30571c47e5" /><Relationship Type="http://schemas.openxmlformats.org/officeDocument/2006/relationships/slideMaster" Target="/ppt/slideMasters/slideMaster1.xml" Id="Rf5eaa76d835d4629" /><Relationship Type="http://schemas.openxmlformats.org/officeDocument/2006/relationships/notesMaster" Target="/ppt/notesMasters/notesMaster1.xml" Id="Rb4496426324247fc" /><Relationship Type="http://schemas.openxmlformats.org/officeDocument/2006/relationships/presProps" Target="/ppt/presProps.xml" Id="R8c831acb86174c4a" /><Relationship Type="http://schemas.openxmlformats.org/officeDocument/2006/relationships/tableStyles" Target="/ppt/tableStyles.xml" Id="R72e8024004614c4e" /><Relationship Type="http://schemas.openxmlformats.org/officeDocument/2006/relationships/slide" Target="/ppt/slides/slide1.xml" Id="R0fb0535ab83f41fb" /><Relationship Type="http://schemas.openxmlformats.org/officeDocument/2006/relationships/slide" Target="/ppt/slides/slide2.xml" Id="R4b0aa9215cc94db7" /><Relationship Type="http://schemas.openxmlformats.org/officeDocument/2006/relationships/slide" Target="/ppt/slides/slide3.xml" Id="Rbbc487c4b4104401" /><Relationship Type="http://schemas.openxmlformats.org/officeDocument/2006/relationships/slide" Target="/ppt/slides/slide4.xml" Id="Rf0f93edce5e048cd" /><Relationship Type="http://schemas.openxmlformats.org/officeDocument/2006/relationships/slide" Target="/ppt/slides/slide5.xml" Id="Rb4d442865be84f12" /><Relationship Type="http://schemas.openxmlformats.org/officeDocument/2006/relationships/slide" Target="/ppt/slides/slide6.xml" Id="R80105d636f0f490f" /><Relationship Type="http://schemas.openxmlformats.org/officeDocument/2006/relationships/slide" Target="/ppt/slides/slide7.xml" Id="R8caaf8970ce345e7" /><Relationship Type="http://schemas.openxmlformats.org/officeDocument/2006/relationships/slide" Target="/ppt/slides/slide8.xml" Id="R538d2f0f505b433a" /><Relationship Type="http://schemas.openxmlformats.org/officeDocument/2006/relationships/slide" Target="/ppt/slides/slide9.xml" Id="R0867446fcb164f7d" /><Relationship Type="http://schemas.openxmlformats.org/officeDocument/2006/relationships/slide" Target="/ppt/slides/slide10.xml" Id="R30d1367020be4079" /><Relationship Type="http://schemas.openxmlformats.org/officeDocument/2006/relationships/slide" Target="/ppt/slides/slide11.xml" Id="R7363f585a0074500" /><Relationship Type="http://schemas.openxmlformats.org/officeDocument/2006/relationships/slide" Target="/ppt/slides/slide12.xml" Id="R0ed04232fff440d3" /><Relationship Type="http://schemas.openxmlformats.org/officeDocument/2006/relationships/slide" Target="/ppt/slides/slide13.xml" Id="Re9e4c9198e224a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f424b786184c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7fba4eaca84759" /><Relationship Type="http://schemas.openxmlformats.org/officeDocument/2006/relationships/notesMaster" Target="/ppt/notesMasters/notesMaster1.xml" Id="Rfbeb0403d0924f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e1a882e9564495" /><Relationship Type="http://schemas.openxmlformats.org/officeDocument/2006/relationships/notesMaster" Target="/ppt/notesMasters/notesMaster1.xml" Id="R439fe18faf5a47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fe023264f94e6b" /><Relationship Type="http://schemas.openxmlformats.org/officeDocument/2006/relationships/notesMaster" Target="/ppt/notesMasters/notesMaster1.xml" Id="R791c968eb9794f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567572c699464f" /><Relationship Type="http://schemas.openxmlformats.org/officeDocument/2006/relationships/notesMaster" Target="/ppt/notesMasters/notesMaster1.xml" Id="R974004222aff4b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fe0cc06c0141ec" /><Relationship Type="http://schemas.openxmlformats.org/officeDocument/2006/relationships/notesMaster" Target="/ppt/notesMasters/notesMaster1.xml" Id="R000d192471cc41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5c669735144e65" /><Relationship Type="http://schemas.openxmlformats.org/officeDocument/2006/relationships/notesMaster" Target="/ppt/notesMasters/notesMaster1.xml" Id="R7d7eff4639fd47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0366c756224ad1" /><Relationship Type="http://schemas.openxmlformats.org/officeDocument/2006/relationships/notesMaster" Target="/ppt/notesMasters/notesMaster1.xml" Id="R25acaa9d26a345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896d5ae3274ff7" /><Relationship Type="http://schemas.openxmlformats.org/officeDocument/2006/relationships/notesMaster" Target="/ppt/notesMasters/notesMaster1.xml" Id="R6676331f19664d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b723187fa04d76" /><Relationship Type="http://schemas.openxmlformats.org/officeDocument/2006/relationships/notesMaster" Target="/ppt/notesMasters/notesMaster1.xml" Id="Rac57684cae6d4c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4b64ad4edf466e" /><Relationship Type="http://schemas.openxmlformats.org/officeDocument/2006/relationships/notesMaster" Target="/ppt/notesMasters/notesMaster1.xml" Id="Re9041e29f44e48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80aa7670eb4240" /><Relationship Type="http://schemas.openxmlformats.org/officeDocument/2006/relationships/notesMaster" Target="/ppt/notesMasters/notesMaster1.xml" Id="R670f5fd65e4242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0f10d93c3c4e10" /><Relationship Type="http://schemas.openxmlformats.org/officeDocument/2006/relationships/notesMaster" Target="/ppt/notesMasters/notesMaster1.xml" Id="Ra0b98e5d68c642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0b02d3f4d3448b" /><Relationship Type="http://schemas.openxmlformats.org/officeDocument/2006/relationships/notesMaster" Target="/ppt/notesMasters/notesMaster1.xml" Id="Rfab349a69f9049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일반비_[MHMIQ]테이블명세서_20260803-1.xlsx · fleet-dealer-global-decision/index.html · 현재 플릿·딜러 HTML/API 구조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일반비_[MHMIQ]테이블명세서_20260803-1.xlsx · fleet-dealer-global-decision/index.html · 현재 플릿·딜러 HTML/API 구조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일반비_[MHMIQ]테이블명세서_20260803-1.xlsx · fleet-dealer-global-decision/index.html · 현재 플릿·딜러 HTML/API 구조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일반비_[MHMIQ]테이블명세서_20260803-1.xlsx · fleet-dealer-global-decision/index.html · 현재 플릿·딜러 HTML/API 구조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일반비_[MHMIQ]테이블명세서_20260803-1.xlsx · fleet-dealer-global-decision/index.html · 현재 플릿·딜러 HTML/API 구조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일반비_[MHMIQ]테이블명세서_20260803-1.xlsx · fleet-dealer-global-decision/index.html · 현재 플릿·딜러 HTML/API 구조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일반비_[MHMIQ]테이블명세서_20260803-1.xlsx · fleet-dealer-global-decision/index.html · 현재 플릿·딜러 HTML/API 구조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일반비_[MHMIQ]테이블명세서_20260803-1.xlsx · fleet-dealer-global-decision/index.html · 현재 플릿·딜러 HTML/API 구조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일반비_[MHMIQ]테이블명세서_20260803-1.xlsx · fleet-dealer-global-decision/index.html · 현재 플릿·딜러 HTML/API 구조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일반비_[MHMIQ]테이블명세서_20260803-1.xlsx · fleet-dealer-global-decision/index.html · 현재 플릿·딜러 HTML/API 구조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일반비_[MHMIQ]테이블명세서_20260803-1.xlsx · fleet-dealer-global-decision/index.html · 현재 플릿·딜러 HTML/API 구조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일반비_[MHMIQ]테이블명세서_20260803-1.xlsx · fleet-dealer-global-decision/index.html · 현재 플릿·딜러 HTML/API 구조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일반비_[MHMIQ]테이블명세서_20260803-1.xlsx · fleet-dealer-global-decision/index.html · 현재 플릿·딜러 HTML/API 구조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4925aa961042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d2d6d604974a6d" /><Relationship Type="http://schemas.openxmlformats.org/officeDocument/2006/relationships/slideLayout" Target="/ppt/slideLayouts/slideLayout1.xml" Id="R0d7527dfd58c40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7527dfd58c40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f11cf144343c8" /><Relationship Type="http://schemas.openxmlformats.org/officeDocument/2006/relationships/notesSlide" Target="/ppt/notesSlides/notesSlide1.xml" Id="Rf12b5058002748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a484b64e04176" /><Relationship Type="http://schemas.openxmlformats.org/officeDocument/2006/relationships/notesSlide" Target="/ppt/notesSlides/notesSlide2.xml" Id="R7deb398dc4404f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5ae9b8a8e4eb1" /><Relationship Type="http://schemas.openxmlformats.org/officeDocument/2006/relationships/notesSlide" Target="/ppt/notesSlides/notesSlide3.xml" Id="Rb0df15f6554d4a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19e1e72b54d74" /><Relationship Type="http://schemas.openxmlformats.org/officeDocument/2006/relationships/notesSlide" Target="/ppt/notesSlides/notesSlide4.xml" Id="R6d9f2cd0a95646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5975080814c73" /><Relationship Type="http://schemas.openxmlformats.org/officeDocument/2006/relationships/notesSlide" Target="/ppt/notesSlides/notesSlide5.xml" Id="Rd17b0d216ea846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4c3d15d8147f3" /><Relationship Type="http://schemas.openxmlformats.org/officeDocument/2006/relationships/notesSlide" Target="/ppt/notesSlides/notesSlide6.xml" Id="R97f7c89f10b646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1f52b35754b43" /><Relationship Type="http://schemas.openxmlformats.org/officeDocument/2006/relationships/notesSlide" Target="/ppt/notesSlides/notesSlide7.xml" Id="R6774ce8a49c14b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bb8a0e56b43a0" /><Relationship Type="http://schemas.openxmlformats.org/officeDocument/2006/relationships/notesSlide" Target="/ppt/notesSlides/notesSlide8.xml" Id="Rf852630c2e0045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8167895424358" /><Relationship Type="http://schemas.openxmlformats.org/officeDocument/2006/relationships/notesSlide" Target="/ppt/notesSlides/notesSlide9.xml" Id="Rb5fcfbed992142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5dd00fb7c48ca" /><Relationship Type="http://schemas.openxmlformats.org/officeDocument/2006/relationships/notesSlide" Target="/ppt/notesSlides/notesSlide10.xml" Id="R277ddeb9592148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e09adfcd84295" /><Relationship Type="http://schemas.openxmlformats.org/officeDocument/2006/relationships/notesSlide" Target="/ppt/notesSlides/notesSlide11.xml" Id="R74e7db1989e847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c48320cdc483f" /><Relationship Type="http://schemas.openxmlformats.org/officeDocument/2006/relationships/notesSlide" Target="/ppt/notesSlides/notesSlide12.xml" Id="R2b56ec4276c94b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227331df7479d" /><Relationship Type="http://schemas.openxmlformats.org/officeDocument/2006/relationships/notesSlide" Target="/ppt/notesSlides/notesSlide13.xml" Id="R1ee601cdabbc43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2CCBD-3AEB-4CCC-80C2-05451B56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0D"/>
          </a:solidFill>
          <a:ln xmlns:a="http://schemas.openxmlformats.org/drawingml/2006/main" w="0">
            <a:solidFill>
              <a:srgbClr val="FF360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1453D-1438-458B-8DC5-3196913F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Bobcat MACHINE IQ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B8706-7FA1-499D-8739-E7B5F54A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글로벌 확장 시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현재 구조의 문제와 개선 방향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87210-42B6-4E74-A34D-46525FEC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885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1D5DB"/>
                </a:solidFill>
              </a:defRPr>
            </a:pPr>
            <a:r>
              <a:rPr sz="1650" b="0">
                <a:solidFill>
                  <a:srgbClr val="D1D5DB"/>
                </a:solidFill>
              </a:rPr>
              <a:t>플릿·딜러·업체·차량 관계를 고객 관점에서 점검하고,</a:t>
            </a:r>
          </a:p>
          <a:p xmlns:a="http://schemas.openxmlformats.org/drawingml/2006/main">
            <a:pPr algn="l">
              <a:defRPr sz="1650" b="0">
                <a:solidFill>
                  <a:srgbClr val="D1D5DB"/>
                </a:solidFill>
              </a:defRPr>
            </a:pPr>
            <a:r>
              <a:rPr sz="1650" b="0">
                <a:solidFill>
                  <a:srgbClr val="D1D5DB"/>
                </a:solidFill>
              </a:rPr>
              <a:t>확장이 가능한 기준과 결정사항을 정리한 협의자료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42578-EFCE-432D-A926-523F1E8B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809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360D"/>
          </a:solidFill>
          <a:ln xmlns:a="http://schemas.openxmlformats.org/drawingml/2006/main" w="9525">
            <a:solidFill>
              <a:srgbClr val="FF360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530C3-EB2E-493B-98DE-7690D1C4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CUSTOMER DISCUSSION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3B4EE-1D27-43FA-B25A-1E108D38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5315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EB3BB"/>
                </a:solidFill>
              </a:defRPr>
            </a:pPr>
            <a:r>
              <a:rPr sz="975" b="0">
                <a:solidFill>
                  <a:srgbClr val="AEB3BB"/>
                </a:solidFill>
              </a:rPr>
              <a:t>2026.08.30</a:t>
            </a:r>
          </a:p>
        </p:txBody>
      </p:sp>
    </p:spTree>
    <p:extLst>
      <p:ext uri="{BB962C8B-B14F-4D97-AF65-F5344CB8AC3E}">
        <p14:creationId xmlns:p14="http://schemas.microsoft.com/office/powerpoint/2010/main" val="10112298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A39CA-8704-47A9-8319-F8C05268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0D"/>
          </a:solidFill>
          <a:ln xmlns:a="http://schemas.openxmlformats.org/drawingml/2006/main" w="0">
            <a:solidFill>
              <a:srgbClr val="FF360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5A9E3-B977-4D4E-ADF2-6DD2E4C9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60D"/>
                </a:solidFill>
              </a:defRPr>
            </a:pPr>
            <a:r>
              <a:rPr sz="900" b="1">
                <a:solidFill>
                  <a:srgbClr val="FF360D"/>
                </a:solidFill>
              </a:rPr>
              <a:t>01 · 핵심 결론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EFFFC-B515-4E34-9CF7-5738002F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화면은 유지하고, 차량과 조직의 관계 기준만 하나로 정리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131C2-5036-496F-A48F-36328582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42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B73"/>
                </a:solidFill>
              </a:defRPr>
            </a:pPr>
            <a:r>
              <a:rPr sz="975" b="1">
                <a:solidFill>
                  <a:srgbClr val="666B7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D068A-4544-4E2C-897B-F9084698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D9F2B-5715-4AE8-84E3-61706A2A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플릿과 딜러 화면을 합칠 필요는 없습니다.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1F495-37B8-4993-B848-3A45EB19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971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D2D2D"/>
                </a:solidFill>
              </a:defRPr>
            </a:pPr>
            <a:r>
              <a:rPr sz="1575" b="0">
                <a:solidFill>
                  <a:srgbClr val="2D2D2D"/>
                </a:solidFill>
              </a:rPr>
              <a:t>같은 차량을 누가 소유하고, 누가 사용하고, 누가 판매·정비하는지</a:t>
            </a:r>
          </a:p>
          <a:p xmlns:a="http://schemas.openxmlformats.org/drawingml/2006/main">
            <a:pPr algn="ctr">
              <a:defRPr sz="1575" b="0">
                <a:solidFill>
                  <a:srgbClr val="2D2D2D"/>
                </a:solidFill>
              </a:defRPr>
            </a:pPr>
            <a:r>
              <a:rPr sz="1575" b="0">
                <a:solidFill>
                  <a:srgbClr val="2D2D2D"/>
                </a:solidFill>
              </a:rPr>
              <a:t>공통 기준으로 관리하면 국내 운영과 글로벌 확장을 함께 대응할 수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AEC72-7A99-4384-9CCC-2D8E894B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33147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6EF19-A957-4C69-B15D-8F74F956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76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F8A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3B882-2668-433C-A702-5DA065EB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유지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93344-F696-47E7-A222-007A4F81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2914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플릿·딜러 메뉴와 화면</a:t>
            </a:r>
          </a:p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운행·배터리·에러 원천 데이터</a:t>
            </a:r>
          </a:p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현재 사용 중인 업무 흐름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5081A-29B4-4EC0-8BAE-B1FA83D6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86150"/>
            <a:ext cx="33147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6AD55-FC15-45BC-B831-DB21963E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86150"/>
            <a:ext cx="476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0D"/>
          </a:solidFill>
          <a:ln xmlns:a="http://schemas.openxmlformats.org/drawingml/2006/main" w="0">
            <a:solidFill>
              <a:srgbClr val="FF360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8C6EC-0B07-4E9A-8716-67E1CB27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385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보완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AD2AC-C8BE-4A78-B9FD-AB02F709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00500"/>
            <a:ext cx="2914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차량과 업체·딜러 관계</a:t>
            </a:r>
          </a:p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관계가 유지되는 기간</a:t>
            </a:r>
          </a:p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사용자별 조회·처리 범위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10B82-9BA0-4F74-B328-7418F35B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86150"/>
            <a:ext cx="33147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147FEA-4C74-4863-BC27-AA84F8C9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86150"/>
            <a:ext cx="476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solidFill>
              <a:srgbClr val="2E6F9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D7C24-61E9-4A7D-A23C-273DE7A5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기대 결과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FD5E88-962E-4510-A448-A37D6851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00500"/>
            <a:ext cx="2914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화면별 차량 수 일치</a:t>
            </a:r>
          </a:p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잘못된 차량 노출 방지</a:t>
            </a:r>
          </a:p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국가별 기준 적용 가능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0468CE-B54D-467E-A42C-55C8EEA9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D33C91-600A-4381-910A-8DA8B72A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B73"/>
                </a:solidFill>
              </a:defRPr>
            </a:pPr>
            <a:r>
              <a:rPr sz="750" b="0">
                <a:solidFill>
                  <a:srgbClr val="666B73"/>
                </a:solidFill>
              </a:rPr>
              <a:t>고객 협의용 · 2026.08.30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EC9759-8096-4EF9-A0F3-DB88462A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40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B73"/>
                </a:solidFill>
              </a:defRPr>
            </a:pPr>
            <a:r>
              <a:rPr sz="750" b="0">
                <a:solidFill>
                  <a:srgbClr val="666B73"/>
                </a:solidFill>
              </a:rPr>
              <a:t>MACHINE IQ GLOBAL STRUCTURE</a:t>
            </a:r>
          </a:p>
        </p:txBody>
      </p:sp>
    </p:spTree>
    <p:extLst>
      <p:ext uri="{BB962C8B-B14F-4D97-AF65-F5344CB8AC3E}">
        <p14:creationId xmlns:p14="http://schemas.microsoft.com/office/powerpoint/2010/main" val="13908840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1779A1-C2D3-4BED-B5FA-22A66986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0D"/>
          </a:solidFill>
          <a:ln xmlns:a="http://schemas.openxmlformats.org/drawingml/2006/main" w="0">
            <a:solidFill>
              <a:srgbClr val="FF360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360A9-0428-4341-A730-0DB3BEAE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60D"/>
                </a:solidFill>
              </a:defRPr>
            </a:pPr>
            <a:r>
              <a:rPr sz="900" b="1">
                <a:solidFill>
                  <a:srgbClr val="FF360D"/>
                </a:solidFill>
              </a:rPr>
              <a:t>02 · 현재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C50E3-3EB1-4E58-A184-06F77EBA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같은 차량 관계가 여러 위치에 나뉘어 기록됨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1E058-B92F-4DA6-87F7-D33B9F70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B73"/>
                </a:solidFill>
              </a:defRPr>
            </a:pPr>
            <a:r>
              <a:rPr sz="1200" b="0">
                <a:solidFill>
                  <a:srgbClr val="666B73"/>
                </a:solidFill>
              </a:rPr>
              <a:t>현재는 장비 기본정보와 별도 업체–차량 연결 정보가 함께 사용됩니다.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67F45-A501-405C-A718-2A0BE9C2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42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B73"/>
                </a:solidFill>
              </a:defRPr>
            </a:pPr>
            <a:r>
              <a:rPr sz="975" b="1">
                <a:solidFill>
                  <a:srgbClr val="666B73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79C86-8FDF-41C2-AA7B-340D168B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B624B-2D54-44C1-90AE-FE079AB5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CD7F7-2E68-4252-B572-A8AAE8B4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B73"/>
          </a:solidFill>
          <a:ln xmlns:a="http://schemas.openxmlformats.org/drawingml/2006/main" w="0">
            <a:solidFill>
              <a:srgbClr val="666B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C48E1-1DCB-4F1D-A18B-73ABC851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장비 기본정보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2CE32-184C-40E5-B745-7DDD9206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4171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차량 기본정보 안에 현재 업체와 딜러 정보가 포함되어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차량이 이동하면 이 값도 변경해야 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44617-D56B-4A46-BF4F-064C71AC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4572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3DE75-E29B-4C88-973F-2EE69DBE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476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B73"/>
          </a:solidFill>
          <a:ln xmlns:a="http://schemas.openxmlformats.org/drawingml/2006/main" w="0">
            <a:solidFill>
              <a:srgbClr val="666B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5C79D-C206-4C8F-9B73-87815A76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38350"/>
            <a:ext cx="417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업체–차량 연결정보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5DB448-D61F-447A-B626-F35A289C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4171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별도 연결 정보에서도 업체와 차량의 관계를 관리합니다.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어떤 화면은 이 정보를 기준으로 조회합니다.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2D36E-86EE-4992-B2E5-BF68693D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71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360D"/>
                </a:solidFill>
              </a:defRPr>
            </a:pPr>
            <a:r>
              <a:rPr sz="2550" b="1">
                <a:solidFill>
                  <a:srgbClr val="FF360D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CBC85D-1C50-4D95-AF09-FC76B206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19600"/>
            <a:ext cx="8686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F0B8B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D5B4A-BD27-426C-973C-D98754EB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5910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2A2A"/>
                </a:solidFill>
              </a:defRPr>
            </a:pPr>
            <a:r>
              <a:rPr sz="1350" b="1">
                <a:solidFill>
                  <a:srgbClr val="C92A2A"/>
                </a:solidFill>
              </a:rPr>
              <a:t>문제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0620E6-5434-4AFE-A0CC-127C4184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1485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둘 중 한 곳만 바뀌면 화면별 차량 수와 조회 권한이 달라질 수 있습니다.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DC3655-9C18-45B4-9596-5CC07947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1B4411-43FA-4DA3-A794-B325C3DC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B73"/>
                </a:solidFill>
              </a:defRPr>
            </a:pPr>
            <a:r>
              <a:rPr sz="750" b="0">
                <a:solidFill>
                  <a:srgbClr val="666B73"/>
                </a:solidFill>
              </a:rPr>
              <a:t>고객 협의용 · 2026.08.30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D6B7E6-E567-45E2-9258-8DEABD2F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40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B73"/>
                </a:solidFill>
              </a:defRPr>
            </a:pPr>
            <a:r>
              <a:rPr sz="750" b="0">
                <a:solidFill>
                  <a:srgbClr val="666B73"/>
                </a:solidFill>
              </a:rPr>
              <a:t>MACHINE IQ GLOBAL STRUCTURE</a:t>
            </a:r>
          </a:p>
        </p:txBody>
      </p:sp>
    </p:spTree>
    <p:extLst>
      <p:ext uri="{BB962C8B-B14F-4D97-AF65-F5344CB8AC3E}">
        <p14:creationId xmlns:p14="http://schemas.microsoft.com/office/powerpoint/2010/main" val="8111543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858CDE-8FD1-48E9-869A-9527A684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0D"/>
          </a:solidFill>
          <a:ln xmlns:a="http://schemas.openxmlformats.org/drawingml/2006/main" w="0">
            <a:solidFill>
              <a:srgbClr val="FF360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5F710-664E-4860-A908-7298FA3B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60D"/>
                </a:solidFill>
              </a:defRPr>
            </a:pPr>
            <a:r>
              <a:rPr sz="900" b="1">
                <a:solidFill>
                  <a:srgbClr val="FF360D"/>
                </a:solidFill>
              </a:rPr>
              <a:t>03 · 관계 의미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F604F-0974-4CA5-B4D4-1E6B02A5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차량 하나에도 서로 다른 관계가 동시에 존재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AAE5F-643C-4CCA-A42E-B75E92D4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42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B73"/>
                </a:solidFill>
              </a:defRPr>
            </a:pPr>
            <a:r>
              <a:rPr sz="975" b="1">
                <a:solidFill>
                  <a:srgbClr val="666B7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C723C-E23F-49F0-ABD0-1C09AA97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C71CD-FCA8-452B-8A6C-629E808C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476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4DB8B-78EA-444A-88D8-CF9D71A6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6F9E"/>
                </a:solidFill>
              </a:defRPr>
            </a:pPr>
            <a:r>
              <a:rPr sz="2025" b="1">
                <a:solidFill>
                  <a:srgbClr val="2E6F9E"/>
                </a:solidFill>
              </a:rPr>
              <a:t>소유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26DF6-CB1F-4BD3-9F7C-D117A9E8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차량을 계약상 보유한 업체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D33FD-5EFF-4831-98A6-EB516230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9B5D1-3D68-4F1C-959D-A6262BBA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B73"/>
                </a:solidFill>
              </a:defRPr>
            </a:pPr>
            <a:r>
              <a:rPr sz="1125" b="0">
                <a:solidFill>
                  <a:srgbClr val="666B73"/>
                </a:solidFill>
              </a:rPr>
              <a:t>자산·계약 기준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64D84-6063-4280-AB83-620C0666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85950"/>
            <a:ext cx="2476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69BC2-87D1-4CC4-985E-8681DB46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574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8A5F"/>
                </a:solidFill>
              </a:defRPr>
            </a:pPr>
            <a:r>
              <a:rPr sz="2025" b="1">
                <a:solidFill>
                  <a:srgbClr val="0F8A5F"/>
                </a:solidFill>
              </a:rPr>
              <a:t>운영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CBB56-24E4-4B19-A68E-FC18E167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0985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현재 차량을 사용하는 업체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9AAE1-2A40-4791-AD5F-6D3DEBB7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5E5F6-6599-47CD-A885-B0B38EFC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861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B73"/>
                </a:solidFill>
              </a:defRPr>
            </a:pPr>
            <a:r>
              <a:rPr sz="1125" b="0">
                <a:solidFill>
                  <a:srgbClr val="666B73"/>
                </a:solidFill>
              </a:rPr>
              <a:t>운행·위치 기준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5605F5-47B1-4240-B8E0-DE019084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85950"/>
            <a:ext cx="2476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C8A07-1CDF-4C9D-A917-21568411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574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360D"/>
                </a:solidFill>
              </a:defRPr>
            </a:pPr>
            <a:r>
              <a:rPr sz="2025" b="1">
                <a:solidFill>
                  <a:srgbClr val="FF360D"/>
                </a:solidFill>
              </a:rPr>
              <a:t>판매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43198A-D132-497B-98FA-76B8A210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0985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차량을 판매한 딜러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F469EE-9EFB-4F35-BE3F-D4793F61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7185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8A5D0F-AFA6-493D-BE7E-373E4649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861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B73"/>
                </a:solidFill>
              </a:defRPr>
            </a:pPr>
            <a:r>
              <a:rPr sz="1125" b="0">
                <a:solidFill>
                  <a:srgbClr val="666B73"/>
                </a:solidFill>
              </a:rPr>
              <a:t>판매 이력 기준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49F6A0-5DED-4A85-99EC-C6DB1312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85950"/>
            <a:ext cx="2476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B50609-E8D1-4558-A47B-1D1CBAEC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5740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92A2A"/>
                </a:solidFill>
              </a:defRPr>
            </a:pPr>
            <a:r>
              <a:rPr sz="2025" b="1">
                <a:solidFill>
                  <a:srgbClr val="C92A2A"/>
                </a:solidFill>
              </a:rPr>
              <a:t>정비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EEA1F0-1891-4296-8ECE-5546377A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0985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차량을 점검·수리하는 딜러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73FB1F-9A51-477A-BA24-6D1BC737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7185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19B6A8-93A9-42E8-94E6-9774861F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861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B73"/>
                </a:solidFill>
              </a:defRPr>
            </a:pPr>
            <a:r>
              <a:rPr sz="1125" b="0">
                <a:solidFill>
                  <a:srgbClr val="666B73"/>
                </a:solidFill>
              </a:rPr>
              <a:t>서비스 권한 기준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CA0AA5-A279-4A24-AC03-25E4C918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10100"/>
            <a:ext cx="8001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EDD09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8BF5B2-CB70-46DB-8DE4-419640BD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62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7800"/>
                </a:solidFill>
              </a:defRPr>
            </a:pPr>
            <a:r>
              <a:rPr sz="1275" b="1">
                <a:solidFill>
                  <a:srgbClr val="C97800"/>
                </a:solidFill>
              </a:rPr>
              <a:t>현재 구조에서 이 의미가 섞이면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3BC07E-2208-4BA7-ABEB-DC7CCBEE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업체 변경이 소유권 이전인지, 운영 업체 변경인지 구분하기 어렵습니다.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C8CE6F-11A7-4DFC-91AD-741BEA51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BBBFC8-6F7E-436B-A76A-D4E0BF52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B73"/>
                </a:solidFill>
              </a:defRPr>
            </a:pPr>
            <a:r>
              <a:rPr sz="750" b="0">
                <a:solidFill>
                  <a:srgbClr val="666B73"/>
                </a:solidFill>
              </a:rPr>
              <a:t>고객 협의용 · 2026.08.30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4DCD81-2882-4074-A938-A956EE43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40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B73"/>
                </a:solidFill>
              </a:defRPr>
            </a:pPr>
            <a:r>
              <a:rPr sz="750" b="0">
                <a:solidFill>
                  <a:srgbClr val="666B73"/>
                </a:solidFill>
              </a:rPr>
              <a:t>MACHINE IQ GLOBAL STRUCTURE</a:t>
            </a:r>
          </a:p>
        </p:txBody>
      </p:sp>
    </p:spTree>
    <p:extLst>
      <p:ext uri="{BB962C8B-B14F-4D97-AF65-F5344CB8AC3E}">
        <p14:creationId xmlns:p14="http://schemas.microsoft.com/office/powerpoint/2010/main" val="19286861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86679D-96D2-4FD7-8005-7EF551CD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0D"/>
          </a:solidFill>
          <a:ln xmlns:a="http://schemas.openxmlformats.org/drawingml/2006/main" w="0">
            <a:solidFill>
              <a:srgbClr val="FF360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6004D-CEF6-4F1E-82AD-38F2C3EA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60D"/>
                </a:solidFill>
              </a:defRPr>
            </a:pPr>
            <a:r>
              <a:rPr sz="900" b="1">
                <a:solidFill>
                  <a:srgbClr val="FF360D"/>
                </a:solidFill>
              </a:rPr>
              <a:t>04 · 현재 발생 가능한 문제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CDB94-679A-443F-9E18-BA485CD5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업체·딜러 변경 시 조회 결과와 권한이 달라질 수 있음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FCC3F-3F47-4C01-8D45-2F05D021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42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B73"/>
                </a:solidFill>
              </a:defRPr>
            </a:pPr>
            <a:r>
              <a:rPr sz="975" b="1">
                <a:solidFill>
                  <a:srgbClr val="666B7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0649C-0DAA-40D7-9B80-B3085A16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88F77-7C26-4C5E-B2C8-21ECB505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B009A4-0840-4238-9DB7-F9961D2C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360D"/>
          </a:solidFill>
          <a:ln xmlns:a="http://schemas.openxmlformats.org/drawingml/2006/main" w="9525">
            <a:solidFill>
              <a:srgbClr val="FF360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CC6F4-C6D6-4FB0-AFEE-8C328A62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ED0AC-CBF8-4CEA-9EAB-C81D283C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431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차량 양도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76197-3657-417D-87D6-B7C9EE76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431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이전 업체 정보가 남음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56908-4922-4DCD-AEC4-4930AE60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43100"/>
            <a:ext cx="451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두 업체에서 같은 차량이 보일 수 있음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4C310-8F71-4F73-8652-BDB97F87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9C0D1-7A79-46A4-8809-FECB68E0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28925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360D"/>
          </a:solidFill>
          <a:ln xmlns:a="http://schemas.openxmlformats.org/drawingml/2006/main" w="9525">
            <a:solidFill>
              <a:srgbClr val="FF360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1BDEA-9341-4041-B399-E138DA8C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289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A3C08-8F17-42FE-A7D9-37B6DEE1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운영 업체 변경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D702E4-02E0-4CFB-B43F-2E108F84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241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소유와 운영을 같은 값으로 처리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1EE0A5-0CC2-4316-A967-0313BF63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24150"/>
            <a:ext cx="451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자산 주체와 실제 사용 주체를 구분하기 어려움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25CC73-DA75-4463-9590-BB8C6952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5E1525-CF52-4F4F-8862-844283D8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9975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360D"/>
          </a:solidFill>
          <a:ln xmlns:a="http://schemas.openxmlformats.org/drawingml/2006/main" w="9525">
            <a:solidFill>
              <a:srgbClr val="FF360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EF8BA2-3E5E-40AB-9190-FFC4478A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7D2F91-3AAC-418B-89E5-69545CBA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052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정비 딜러 변경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C654DE-1ED1-42F3-9ED1-5109ECD9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052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판매 딜러와 정비 딜러가 섞임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E36DA1-2002-471E-8233-2EF1F90A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05200"/>
            <a:ext cx="451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에러·정비 화면 접근 범위가 달라질 수 있음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67F0E1-375E-488B-BCE7-7BD72501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8FAC76-D04F-40A7-889A-3291DCDA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91025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360D"/>
          </a:solidFill>
          <a:ln xmlns:a="http://schemas.openxmlformats.org/drawingml/2006/main" w="9525">
            <a:solidFill>
              <a:srgbClr val="FF360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096A24-CB6E-48A2-B530-46166A15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910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47C266-6EA8-4F7F-A41D-2C05B397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862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계약 종료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103087-B7C6-4DC1-AC41-A4036848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종료 시점 정보가 부족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4B3E31-2C03-4B9D-88CF-328442D3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86250"/>
            <a:ext cx="451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권한 회수가 늦거나 과거 이력을 확인하기 어려움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0A2DA5-8900-4D98-90D0-DFAE29DC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C939DD-2297-4C52-87F0-65BF28E2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72075"/>
            <a:ext cx="438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2A2A"/>
          </a:solidFill>
          <a:ln xmlns:a="http://schemas.openxmlformats.org/drawingml/2006/main" w="9525">
            <a:solidFill>
              <a:srgbClr val="C92A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6296E6-7BCA-4447-82E2-BDD99E8A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720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E8B484-9673-42B1-B1E1-47AD7754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673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화면별 집계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028BDD-CC9E-4C51-9231-5F16A86B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673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화면마다 다른 관계 정보를 사용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912984-983B-4B9D-A848-FE957AC8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67300"/>
            <a:ext cx="451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2A2A"/>
                </a:solidFill>
              </a:defRPr>
            </a:pPr>
            <a:r>
              <a:rPr sz="1200" b="1">
                <a:solidFill>
                  <a:srgbClr val="C92A2A"/>
                </a:solidFill>
              </a:rPr>
              <a:t>차량 수와 서비스 건수가 서로 다르게 보일 수 있음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32E24F-89DE-4FD8-8E80-7C4D824E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573181-7ED0-47EB-AB3E-0C58D3C9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B73"/>
                </a:solidFill>
              </a:defRPr>
            </a:pPr>
            <a:r>
              <a:rPr sz="750" b="0">
                <a:solidFill>
                  <a:srgbClr val="666B73"/>
                </a:solidFill>
              </a:rPr>
              <a:t>고객 협의용 · 2026.08.30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C0A62D-F087-4217-B6FB-94E1F55D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40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B73"/>
                </a:solidFill>
              </a:defRPr>
            </a:pPr>
            <a:r>
              <a:rPr sz="750" b="0">
                <a:solidFill>
                  <a:srgbClr val="666B73"/>
                </a:solidFill>
              </a:rPr>
              <a:t>MACHINE IQ GLOBAL STRUCTURE</a:t>
            </a:r>
          </a:p>
        </p:txBody>
      </p:sp>
    </p:spTree>
    <p:extLst>
      <p:ext uri="{BB962C8B-B14F-4D97-AF65-F5344CB8AC3E}">
        <p14:creationId xmlns:p14="http://schemas.microsoft.com/office/powerpoint/2010/main" val="6004246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3596A8-0151-4370-88BB-0735F579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0D"/>
          </a:solidFill>
          <a:ln xmlns:a="http://schemas.openxmlformats.org/drawingml/2006/main" w="0">
            <a:solidFill>
              <a:srgbClr val="FF360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BB40F-A1B1-4D54-91EA-16DF0D05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60D"/>
                </a:solidFill>
              </a:defRPr>
            </a:pPr>
            <a:r>
              <a:rPr sz="900" b="1">
                <a:solidFill>
                  <a:srgbClr val="FF360D"/>
                </a:solidFill>
              </a:rPr>
              <a:t>05 · 글로벌 확장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C9A90-89A9-4C32-BBA0-7862CA49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국가가 늘어나면 관계 문제에 국가별 기준이 추가됨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95AA9-954D-439A-A488-E06017DE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42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B73"/>
                </a:solidFill>
              </a:defRPr>
            </a:pPr>
            <a:r>
              <a:rPr sz="975" b="1">
                <a:solidFill>
                  <a:srgbClr val="666B7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BF7FA-E628-4B13-8CE9-D97DB0CE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20556-871E-4558-88F6-2AFEEC64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3718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83395-5D2F-478E-805F-5307D371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7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0D"/>
          </a:solidFill>
          <a:ln xmlns:a="http://schemas.openxmlformats.org/drawingml/2006/main" w="0">
            <a:solidFill>
              <a:srgbClr val="FF360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48D60-FC8E-4175-AFF1-2C1EC45D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국가·법인 경계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CCF5E-D210-4E76-97F6-E9FB9CA0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어느 국가·법인의 데이터인지 먼저 구분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02893-3FA9-4F9F-8C31-94A9815C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47850"/>
            <a:ext cx="33718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78C6B-EBD8-4270-AA70-6B72C436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47850"/>
            <a:ext cx="47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0D"/>
          </a:solidFill>
          <a:ln xmlns:a="http://schemas.openxmlformats.org/drawingml/2006/main" w="0">
            <a:solidFill>
              <a:srgbClr val="FF360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8B6EA-6DF0-49A7-B290-A49B4197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00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시간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DB5A0-EEB2-4EE9-A99D-464B055F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62200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UTC 저장과 사용자 현지시간 표시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7A939-C663-4208-A265-A9EDF9F4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47850"/>
            <a:ext cx="33718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2D5C23-D424-442F-B58A-4A428976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47850"/>
            <a:ext cx="47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0D"/>
          </a:solidFill>
          <a:ln xmlns:a="http://schemas.openxmlformats.org/drawingml/2006/main" w="0">
            <a:solidFill>
              <a:srgbClr val="FF360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969A2A-6ADD-4D21-A514-F7FA9C27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00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언어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422F5E-DC1B-40DC-A23C-4C430830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코드는 공통, 설명 문구는 국가별 관리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0479BB-F94E-4DD1-A212-B0241CBF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33718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569AA-EBF3-422E-8005-79F3EEFA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47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solidFill>
              <a:srgbClr val="2E6F9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EE29F0-68AC-47A2-9AC2-F30A1092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단위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EA11A2-1DB4-472A-A84E-3159CAB2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km/mile, L/gallon, ℃/℉ 표시 변환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C407C4-8E33-413A-AB09-AF061C1E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05200"/>
            <a:ext cx="33718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702B68-C560-4898-BA4A-ADAD82DD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05200"/>
            <a:ext cx="47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solidFill>
              <a:srgbClr val="2E6F9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64C652-C61A-47BD-A9F9-79B73D39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576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조직 체계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107FA7-FCE7-4764-BB01-F4BFBA96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19550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본사·딜러·지점·서비스센터 계층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DFEE4F-E752-472D-8B65-F19CEA8C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05200"/>
            <a:ext cx="33718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55E1D4-35F0-4E0E-BA78-1F31F88E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05200"/>
            <a:ext cx="47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solidFill>
              <a:srgbClr val="2E6F9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0E3FB4-AEE1-4825-B03C-CDD326FF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576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데이터 정책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1800C2-EDCA-4EEB-A31E-D7B62878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19550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위치·개인정보의 저장 지역과 보존 기간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E6F5D6-4E5A-42AB-A24F-5E842E7D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53050"/>
            <a:ext cx="8991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F0B8B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FB4E41-5EC3-44A1-A5D0-F74D709E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054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2A2A"/>
                </a:solidFill>
              </a:defRPr>
            </a:pPr>
            <a:r>
              <a:rPr sz="1350" b="1">
                <a:solidFill>
                  <a:srgbClr val="C92A2A"/>
                </a:solidFill>
              </a:rPr>
              <a:t>관계 기준 없이 국가만 추가하면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954416-A7B2-493C-9E5C-991131E6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29250"/>
            <a:ext cx="560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다른 법인·국가의 차량이 조회 범위에 포함될 위험이 커집니다.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D65B46-79C5-432C-9FB6-DDF9B8DC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E93E67-24AD-4F42-9575-F7425C8F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B73"/>
                </a:solidFill>
              </a:defRPr>
            </a:pPr>
            <a:r>
              <a:rPr sz="750" b="0">
                <a:solidFill>
                  <a:srgbClr val="666B73"/>
                </a:solidFill>
              </a:rPr>
              <a:t>고객 협의용 · 2026.08.30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245AC2-97B7-453B-B625-5A1AB77E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40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B73"/>
                </a:solidFill>
              </a:defRPr>
            </a:pPr>
            <a:r>
              <a:rPr sz="750" b="0">
                <a:solidFill>
                  <a:srgbClr val="666B73"/>
                </a:solidFill>
              </a:rPr>
              <a:t>MACHINE IQ GLOBAL STRUCTURE</a:t>
            </a:r>
          </a:p>
        </p:txBody>
      </p:sp>
    </p:spTree>
    <p:extLst>
      <p:ext uri="{BB962C8B-B14F-4D97-AF65-F5344CB8AC3E}">
        <p14:creationId xmlns:p14="http://schemas.microsoft.com/office/powerpoint/2010/main" val="11231158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53C28E-4023-443A-A5E6-6F40F5C9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0D"/>
          </a:solidFill>
          <a:ln xmlns:a="http://schemas.openxmlformats.org/drawingml/2006/main" w="0">
            <a:solidFill>
              <a:srgbClr val="FF360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7BA1B-C9D3-459B-8CA9-85DFC197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60D"/>
                </a:solidFill>
              </a:defRPr>
            </a:pPr>
            <a:r>
              <a:rPr sz="900" b="1">
                <a:solidFill>
                  <a:srgbClr val="FF360D"/>
                </a:solidFill>
              </a:rPr>
              <a:t>06 · 개선 원칙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6BFE7-3E76-4F1C-91B2-667B7289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기존 데이터를 갈아엎지 않고 관계 기준을 보완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7D802-AD0E-48AC-B227-7D6B5B29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42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B73"/>
                </a:solidFill>
              </a:defRPr>
            </a:pPr>
            <a:r>
              <a:rPr sz="975" b="1">
                <a:solidFill>
                  <a:srgbClr val="666B7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6A45C-31C7-45E7-A682-DDA79758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310BA-C2AB-4CB3-8244-83EA89FB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8A5F"/>
                </a:solidFill>
              </a:defRPr>
            </a:pPr>
            <a:r>
              <a:rPr sz="1725" b="1">
                <a:solidFill>
                  <a:srgbClr val="0F8A5F"/>
                </a:solidFill>
              </a:rPr>
              <a:t>현재 유지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BAFEB-9A05-401B-B915-DD98662E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05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360D"/>
                </a:solidFill>
              </a:defRPr>
            </a:pPr>
            <a:r>
              <a:rPr sz="1725" b="1">
                <a:solidFill>
                  <a:srgbClr val="FF360D"/>
                </a:solidFill>
              </a:rPr>
              <a:t>추가 관리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D4709-A21D-43D1-8C5C-1461A86B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050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E6F9E"/>
                </a:solidFill>
              </a:defRPr>
            </a:pPr>
            <a:r>
              <a:rPr sz="1725" b="1">
                <a:solidFill>
                  <a:srgbClr val="2E6F9E"/>
                </a:solidFill>
              </a:rPr>
              <a:t>공통 적용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0192F-6AEC-4547-8A12-4D2A67CF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1051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6042E-DB36-4ACD-9259-AADFD720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F8A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D9731-7C26-423E-8EF2-6082243E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운영 데이터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7D161-BF51-4712-876D-62EDBD21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7051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운행·위치·배터리·에러·정비 데이터</a:t>
            </a:r>
          </a:p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플릿·딜러 화면</a:t>
            </a:r>
          </a:p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현재 API 전환 기간 지원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AB3DB-F69F-446C-9723-C21AEE01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81250"/>
            <a:ext cx="31051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97E1D-8837-4E0D-BF55-56DAC5F5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8125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0D"/>
          </a:solidFill>
          <a:ln xmlns:a="http://schemas.openxmlformats.org/drawingml/2006/main" w="0">
            <a:solidFill>
              <a:srgbClr val="FF360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4F2722-F31E-4139-8972-A81D1800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336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관계 원장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28DC1-FD15-467D-8675-9F06D545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895600"/>
            <a:ext cx="27051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차량–조직 관계 종류</a:t>
            </a:r>
          </a:p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관계 시작일·종료일</a:t>
            </a:r>
          </a:p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관계를 만든 출처와 변경 이력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ACF80-90B9-47C2-9679-31E2B414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81250"/>
            <a:ext cx="31051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36D3C-7AA0-497E-9B13-1A778880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8125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solidFill>
              <a:srgbClr val="2E6F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DDE78D-79C5-4449-9533-53142BCF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336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조회 기준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FD2259-A830-4A18-89A9-7BF587E6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95600"/>
            <a:ext cx="27051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사용자 소속과 역할</a:t>
            </a:r>
          </a:p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조회 시점의 유효 관계</a:t>
            </a:r>
          </a:p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국가·언어·시간대·단위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55473B-5C12-444E-A291-39587C10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29000"/>
            <a:ext cx="752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0D"/>
          </a:solidFill>
          <a:ln xmlns:a="http://schemas.openxmlformats.org/drawingml/2006/main" w="0">
            <a:solidFill>
              <a:srgbClr val="FF360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857880-50AF-4F36-B21B-4F9F31DE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14675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360D"/>
                </a:solidFill>
              </a:defRPr>
            </a:pPr>
            <a:r>
              <a:rPr sz="2250" b="1">
                <a:solidFill>
                  <a:srgbClr val="FF360D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5B4CCC-E49C-4481-86A5-84022FF9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429000"/>
            <a:ext cx="752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0D"/>
          </a:solidFill>
          <a:ln xmlns:a="http://schemas.openxmlformats.org/drawingml/2006/main" w="0">
            <a:solidFill>
              <a:srgbClr val="FF360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20DDC6-5FBC-4521-8E58-56E5E3FB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14675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360D"/>
                </a:solidFill>
              </a:defRPr>
            </a:pPr>
            <a:r>
              <a:rPr sz="2250" b="1">
                <a:solidFill>
                  <a:srgbClr val="FF360D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630AFE-33A0-4BB4-A8F3-C3FB1962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개선 범위는 관계·권한 기준이며, 기존 차량 데이터와 화면 기능은 유지합니다.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4C35AC-B1C6-4CC3-9B47-8C7E4564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2C1F0C-C69B-4883-A075-FD57915C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B73"/>
                </a:solidFill>
              </a:defRPr>
            </a:pPr>
            <a:r>
              <a:rPr sz="750" b="0">
                <a:solidFill>
                  <a:srgbClr val="666B73"/>
                </a:solidFill>
              </a:rPr>
              <a:t>고객 협의용 · 2026.08.30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5EE72F-64E6-4B33-B037-2ABEC9E6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40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B73"/>
                </a:solidFill>
              </a:defRPr>
            </a:pPr>
            <a:r>
              <a:rPr sz="750" b="0">
                <a:solidFill>
                  <a:srgbClr val="666B73"/>
                </a:solidFill>
              </a:rPr>
              <a:t>MACHINE IQ GLOBAL STRUCTURE</a:t>
            </a:r>
          </a:p>
        </p:txBody>
      </p:sp>
    </p:spTree>
    <p:extLst>
      <p:ext uri="{BB962C8B-B14F-4D97-AF65-F5344CB8AC3E}">
        <p14:creationId xmlns:p14="http://schemas.microsoft.com/office/powerpoint/2010/main" val="18803968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EF2651-1B61-4625-B5CF-5F6B78B0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0D"/>
          </a:solidFill>
          <a:ln xmlns:a="http://schemas.openxmlformats.org/drawingml/2006/main" w="0">
            <a:solidFill>
              <a:srgbClr val="FF360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1EB48-26A1-4A93-A98F-F5E8B233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60D"/>
                </a:solidFill>
              </a:defRPr>
            </a:pPr>
            <a:r>
              <a:rPr sz="900" b="1">
                <a:solidFill>
                  <a:srgbClr val="FF360D"/>
                </a:solidFill>
              </a:rPr>
              <a:t>07 · 개선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945FE-40ED-4CC0-92D1-DBFD006D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차량과 조직을 분리하고 관계 종류와 기간으로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F8C16-6CB8-444C-9E10-3F070057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42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B73"/>
                </a:solidFill>
              </a:defRPr>
            </a:pPr>
            <a:r>
              <a:rPr sz="975" b="1">
                <a:solidFill>
                  <a:srgbClr val="666B7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41CF9-3215-4F08-9A95-E47EBD78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AC951-25A0-466C-B6CB-347D1790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00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2E6F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13002-6CC4-48B6-B287-510B342E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6F9E"/>
                </a:solidFill>
              </a:defRPr>
            </a:pPr>
            <a:r>
              <a:rPr sz="1800" b="1">
                <a:solidFill>
                  <a:srgbClr val="2E6F9E"/>
                </a:solidFill>
              </a:rPr>
              <a:t>조직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D5374-B8A7-4A92-91A7-04E31BB6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2D2D"/>
                </a:solidFill>
              </a:defRPr>
            </a:pPr>
            <a:r>
              <a:rPr sz="1125" b="0">
                <a:solidFill>
                  <a:srgbClr val="2D2D2D"/>
                </a:solidFill>
              </a:rPr>
              <a:t>고객사 · 딜러 · 지점 · 서비스센터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F223D-6990-42B7-920E-4F100C90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76450"/>
            <a:ext cx="2400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0F8A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8103E-FC97-4A80-8452-BD4033C0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2885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8A5F"/>
                </a:solidFill>
              </a:defRPr>
            </a:pPr>
            <a:r>
              <a:rPr sz="1800" b="1">
                <a:solidFill>
                  <a:srgbClr val="0F8A5F"/>
                </a:solidFill>
              </a:rPr>
              <a:t>차량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FCC73-1029-49D3-B059-7C9EB226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9080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D2D2D"/>
                </a:solidFill>
              </a:defRPr>
            </a:pPr>
            <a:r>
              <a:rPr sz="1125" b="0">
                <a:solidFill>
                  <a:srgbClr val="2D2D2D"/>
                </a:solidFill>
              </a:rPr>
              <a:t>차대번호 · 모델 · 동력 유형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ADAEF-6BC2-4E2D-B7EA-5644E96C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76650"/>
            <a:ext cx="44958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FF360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599EC-AB6A-40D9-AF48-4B73ED6C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48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360D"/>
                </a:solidFill>
              </a:defRPr>
            </a:pPr>
            <a:r>
              <a:rPr sz="1875" b="1">
                <a:solidFill>
                  <a:srgbClr val="FF360D"/>
                </a:solidFill>
              </a:rPr>
              <a:t>차량–조직 관계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0BBB6-1AEA-4448-841B-ABEA2606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67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소유 · 운영 · 판매 · 정비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시작일 · 종료일 · 상태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A93E1-59CC-4DCA-9DE7-E6C2D6AF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71750"/>
            <a:ext cx="6019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8FFB7-186C-4825-84FA-AEF302F9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051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360D"/>
                </a:solidFill>
              </a:defRPr>
            </a:pPr>
            <a:r>
              <a:rPr sz="2400" b="1">
                <a:solidFill>
                  <a:srgbClr val="FF360D"/>
                </a:solidFill>
              </a:rPr>
              <a:t>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AFC7F6-99C0-45F5-A84B-1F461E02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051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360D"/>
                </a:solidFill>
              </a:defRPr>
            </a:pPr>
            <a:r>
              <a:rPr sz="2400" b="1">
                <a:solidFill>
                  <a:srgbClr val="FF360D"/>
                </a:solidFill>
              </a:rPr>
              <a:t>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F3500F-D6C2-4DDB-851D-00BDB0D6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467350"/>
            <a:ext cx="7962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C89FA-F611-4E44-A517-EC83340E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43550"/>
            <a:ext cx="754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같은 차량에 여러 관계를 기록하되, 조회 목적에 맞는 관계만 사용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6A55C3-805D-4965-B04D-C97CB695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962884-117C-4FE4-A9F6-B61E0532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B73"/>
                </a:solidFill>
              </a:defRPr>
            </a:pPr>
            <a:r>
              <a:rPr sz="750" b="0">
                <a:solidFill>
                  <a:srgbClr val="666B73"/>
                </a:solidFill>
              </a:rPr>
              <a:t>고객 협의용 · 2026.08.30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D98A65-812D-4788-BBD0-13CBB9B2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40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B73"/>
                </a:solidFill>
              </a:defRPr>
            </a:pPr>
            <a:r>
              <a:rPr sz="750" b="0">
                <a:solidFill>
                  <a:srgbClr val="666B73"/>
                </a:solidFill>
              </a:rPr>
              <a:t>MACHINE IQ GLOBAL STRUCTURE</a:t>
            </a:r>
          </a:p>
        </p:txBody>
      </p:sp>
    </p:spTree>
    <p:extLst>
      <p:ext uri="{BB962C8B-B14F-4D97-AF65-F5344CB8AC3E}">
        <p14:creationId xmlns:p14="http://schemas.microsoft.com/office/powerpoint/2010/main" val="7910851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3BCFA2-96F6-4544-ACAD-3AC82D9F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0D"/>
          </a:solidFill>
          <a:ln xmlns:a="http://schemas.openxmlformats.org/drawingml/2006/main" w="0">
            <a:solidFill>
              <a:srgbClr val="FF360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5DBF0-67F0-4679-AC8C-3A421268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60D"/>
                </a:solidFill>
              </a:defRPr>
            </a:pPr>
            <a:r>
              <a:rPr sz="900" b="1">
                <a:solidFill>
                  <a:srgbClr val="FF360D"/>
                </a:solidFill>
              </a:rPr>
              <a:t>08 · 적용 후 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16C62-DE65-41BA-92EC-1B0C0B57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고객 화면에서는 더 일관되고 안전하게 보임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3C5F5-06C3-4F9E-9234-57F60ED5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42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B73"/>
                </a:solidFill>
              </a:defRPr>
            </a:pPr>
            <a:r>
              <a:rPr sz="975" b="1">
                <a:solidFill>
                  <a:srgbClr val="666B7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64070-1333-4433-A7E7-1AB8684C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DD858-B75D-4375-8B81-9D2DAD89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90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6B73"/>
                </a:solidFill>
              </a:defRPr>
            </a:pPr>
            <a:r>
              <a:rPr sz="1500" b="1">
                <a:solidFill>
                  <a:srgbClr val="666B73"/>
                </a:solidFill>
              </a:rPr>
              <a:t>현재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C32B7-DAAD-44F4-B266-84A3C5A0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90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8A5F"/>
                </a:solidFill>
              </a:defRPr>
            </a:pPr>
            <a:r>
              <a:rPr sz="1500" b="1">
                <a:solidFill>
                  <a:srgbClr val="0F8A5F"/>
                </a:solidFill>
              </a:rPr>
              <a:t>개선 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15FDD-3BD2-42EA-8B91-0B86971D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90C90-241B-496D-8ABE-FF903975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차량 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516ED-D587-49CC-B5F0-744F4B17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86000"/>
            <a:ext cx="350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화면마다 다를 수 있음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7BD2D-FD8D-443D-9CD1-061B75F3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360D"/>
                </a:solidFill>
              </a:defRPr>
            </a:pPr>
            <a:r>
              <a:rPr sz="1800" b="1">
                <a:solidFill>
                  <a:srgbClr val="FF360D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116C9-8725-4192-841E-52F7E372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860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동일한 조회 대상에서는 같은 차량 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EE024-C5E1-47E8-97E3-EECB077A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207612-2C81-4FB3-9A46-5D5FBA9F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차량 이동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EE38E-73B9-4A47-8925-46101441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350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현재 값만 변경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670317-4D3D-4D6F-9140-7358B5BF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360D"/>
                </a:solidFill>
              </a:defRPr>
            </a:pPr>
            <a:r>
              <a:rPr sz="1800" b="1">
                <a:solidFill>
                  <a:srgbClr val="FF360D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A4895C-4C97-4B36-9648-81C81F78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2895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이전·현재 관계를 모두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D15177-F19F-43C1-BAB2-5839953D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E4FD0E-0715-4BB1-B5DC-AC44911D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딜러 권한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0672F3-2226-490C-B521-B1A07B7F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71900"/>
            <a:ext cx="350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판매·정비 역할 혼재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96F073-6FD9-4204-BDAB-0BEEBE5C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360D"/>
                </a:solidFill>
              </a:defRPr>
            </a:pPr>
            <a:r>
              <a:rPr sz="1800" b="1">
                <a:solidFill>
                  <a:srgbClr val="FF360D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E3FBFD-6FED-4134-8900-32AC2006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719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정비 담당 기간에만 서비스 접근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271D1C-15D8-4B86-819D-6A2AB521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816A6B-D67D-4626-A4DB-4923970C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글로벌 표시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75B12A-8672-4D6E-8077-0628997B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14850"/>
            <a:ext cx="350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화면별 개별 처리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7A58AC-2E2B-4B32-9568-C30BACE3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360D"/>
                </a:solidFill>
              </a:defRPr>
            </a:pPr>
            <a:r>
              <a:rPr sz="1800" b="1">
                <a:solidFill>
                  <a:srgbClr val="FF360D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52185B-3617-4323-9804-095B1A62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1485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언어·시간·단위를 공통 기준으로 표시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FE50EC-1346-405F-8F2C-21082970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1D1336-7137-4610-8F6A-DEA6DF3D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161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문제 추적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D23C98-995E-4093-999F-F67AC5E4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57800"/>
            <a:ext cx="350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어느 관계를 사용했는지 불명확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EB526B-086F-4CB2-83C8-4C55BD1C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360D"/>
                </a:solidFill>
              </a:defRPr>
            </a:pPr>
            <a:r>
              <a:rPr sz="1800" b="1">
                <a:solidFill>
                  <a:srgbClr val="FF360D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BD4C87-4ED4-472F-9FF1-FB9F1903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5780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조회 시점과 관계 근거를 확인 가능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93B6B8-E65D-42D6-8058-ECC82C9D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905772-1E26-445E-A7EA-E051252E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B73"/>
                </a:solidFill>
              </a:defRPr>
            </a:pPr>
            <a:r>
              <a:rPr sz="750" b="0">
                <a:solidFill>
                  <a:srgbClr val="666B73"/>
                </a:solidFill>
              </a:rPr>
              <a:t>고객 협의용 · 2026.08.30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2AD0CE-A6F2-4FEA-ADB9-1580D493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40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B73"/>
                </a:solidFill>
              </a:defRPr>
            </a:pPr>
            <a:r>
              <a:rPr sz="750" b="0">
                <a:solidFill>
                  <a:srgbClr val="666B73"/>
                </a:solidFill>
              </a:rPr>
              <a:t>MACHINE IQ GLOBAL STRUCTURE</a:t>
            </a:r>
          </a:p>
        </p:txBody>
      </p:sp>
    </p:spTree>
    <p:extLst>
      <p:ext uri="{BB962C8B-B14F-4D97-AF65-F5344CB8AC3E}">
        <p14:creationId xmlns:p14="http://schemas.microsoft.com/office/powerpoint/2010/main" val="18445313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9544DF-CD5E-4D93-B100-EF86EB5D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0D"/>
          </a:solidFill>
          <a:ln xmlns:a="http://schemas.openxmlformats.org/drawingml/2006/main" w="0">
            <a:solidFill>
              <a:srgbClr val="FF360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F7D4C-C698-4E08-A4DB-22694703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60D"/>
                </a:solidFill>
              </a:defRPr>
            </a:pPr>
            <a:r>
              <a:rPr sz="900" b="1">
                <a:solidFill>
                  <a:srgbClr val="FF360D"/>
                </a:solidFill>
              </a:rPr>
              <a:t>09 · 전환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6BC70-2236-4E3D-852C-3F1073C1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한 번에 교체하지 않고 비교하면서 단계 전환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0D421-0B72-462F-9FC5-68349D30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42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B73"/>
                </a:solidFill>
              </a:defRPr>
            </a:pPr>
            <a:r>
              <a:rPr sz="975" b="1">
                <a:solidFill>
                  <a:srgbClr val="666B7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BD025-C10A-4EF5-9BAC-6D9E445E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DDE2B-C2CE-4B74-8401-C7D091C1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952625" cy="26670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6B560-812E-40C8-BC0C-1B44B782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400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360D"/>
          </a:solidFill>
          <a:ln xmlns:a="http://schemas.openxmlformats.org/drawingml/2006/main" w="9525">
            <a:solidFill>
              <a:srgbClr val="FF360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784FB-B182-4C86-96CC-C0D9138A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9FC9C-E0E1-4EE5-8807-7C38386A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609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기준 확정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9D23D-57CD-4219-A0F6-D100827A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16097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D2D2D"/>
                </a:solidFill>
              </a:defRPr>
            </a:pPr>
            <a:r>
              <a:rPr sz="1125" b="0">
                <a:solidFill>
                  <a:srgbClr val="2D2D2D"/>
                </a:solidFill>
              </a:rPr>
              <a:t>소유·운영·판매·정비의 의미와 중복 허용 범위 확정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1773A-8408-4D93-8D37-91B9D042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105150"/>
            <a:ext cx="180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360D"/>
                </a:solidFill>
              </a:defRPr>
            </a:pPr>
            <a:r>
              <a:rPr sz="1800" b="1">
                <a:solidFill>
                  <a:srgbClr val="FF360D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75A93-781E-46C6-AAF9-C9D62C34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133600"/>
            <a:ext cx="1952625" cy="26670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8F35F-E2A9-49CA-AEFD-565AF90C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305050"/>
            <a:ext cx="400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360D"/>
          </a:solidFill>
          <a:ln xmlns:a="http://schemas.openxmlformats.org/drawingml/2006/main" w="9525">
            <a:solidFill>
              <a:srgbClr val="FF360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1F686-6EFC-4D90-86E1-95059D91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3050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0DD5A-F130-40D7-AAAD-478651CC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762250"/>
            <a:ext cx="1609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기존 데이터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9C5957-8317-40B4-B0E1-366DA084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352800"/>
            <a:ext cx="16097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D2D2D"/>
                </a:solidFill>
              </a:defRPr>
            </a:pPr>
            <a:r>
              <a:rPr sz="1125" b="0">
                <a:solidFill>
                  <a:srgbClr val="2D2D2D"/>
                </a:solidFill>
              </a:rPr>
              <a:t>현재 업체·딜러 정보를 신규 관계 기준으로 초기 등록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8C83C3-1613-442E-82DF-E8DD1AF5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05150"/>
            <a:ext cx="180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360D"/>
                </a:solidFill>
              </a:defRPr>
            </a:pPr>
            <a:r>
              <a:rPr sz="1800" b="1">
                <a:solidFill>
                  <a:srgbClr val="FF360D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701396-1700-439B-9FAE-6B70FBD2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33600"/>
            <a:ext cx="1952625" cy="26670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ED504D-BB1B-4112-9500-0B501DB2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05050"/>
            <a:ext cx="400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360D"/>
          </a:solidFill>
          <a:ln xmlns:a="http://schemas.openxmlformats.org/drawingml/2006/main" w="9525">
            <a:solidFill>
              <a:srgbClr val="FF360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7D3B09-41B7-46AC-A141-1A2D8BB6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050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4B944E-76FF-4525-A8F0-DC5179AF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62250"/>
            <a:ext cx="1609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결과 비교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D990A-D2C2-4245-A690-EF7FAFCE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52800"/>
            <a:ext cx="16097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D2D2D"/>
                </a:solidFill>
              </a:defRPr>
            </a:pPr>
            <a:r>
              <a:rPr sz="1125" b="0">
                <a:solidFill>
                  <a:srgbClr val="2D2D2D"/>
                </a:solidFill>
              </a:rPr>
              <a:t>기존 방식과 신규 방식의 차량 수·권한·이력을 화면별 비교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A17A96-B75D-4BD3-A88E-99C5BEAD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05150"/>
            <a:ext cx="180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360D"/>
                </a:solidFill>
              </a:defRPr>
            </a:pPr>
            <a:r>
              <a:rPr sz="1800" b="1">
                <a:solidFill>
                  <a:srgbClr val="FF360D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307FAF-91CD-458F-A146-3641ACB2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133600"/>
            <a:ext cx="1952625" cy="26670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4DFE35-6233-4CF9-A283-D08F2226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305050"/>
            <a:ext cx="400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360D"/>
          </a:solidFill>
          <a:ln xmlns:a="http://schemas.openxmlformats.org/drawingml/2006/main" w="9525">
            <a:solidFill>
              <a:srgbClr val="FF360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23FB45-C5B8-400A-9AC5-C00A623C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050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90A773-AFD4-4B6C-A68A-677CF7A1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762250"/>
            <a:ext cx="1609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화면 전환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D31A4C-9762-4DC7-B319-C2F42C76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352800"/>
            <a:ext cx="16097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D2D2D"/>
                </a:solidFill>
              </a:defRPr>
            </a:pPr>
            <a:r>
              <a:rPr sz="1125" b="0">
                <a:solidFill>
                  <a:srgbClr val="2D2D2D"/>
                </a:solidFill>
              </a:rPr>
              <a:t>차이가 없는 화면부터 신규 기준 적용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2DC2B6-C5F0-4CFF-A9A1-472086EF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05150"/>
            <a:ext cx="180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360D"/>
                </a:solidFill>
              </a:defRPr>
            </a:pPr>
            <a:r>
              <a:rPr sz="1800" b="1">
                <a:solidFill>
                  <a:srgbClr val="FF360D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24C72E-84C2-4346-AD99-E94DC4F3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33600"/>
            <a:ext cx="1952625" cy="26670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0F8A5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64C0F3-A49A-446F-80C6-5A58AA1A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05050"/>
            <a:ext cx="400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F8A5F"/>
          </a:solidFill>
          <a:ln xmlns:a="http://schemas.openxmlformats.org/drawingml/2006/main" w="9525">
            <a:solidFill>
              <a:srgbClr val="0F8A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7EF7C7-C76B-43F8-9348-0514C67C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050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8DE725-3E58-4B28-B785-FE4F61E0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62250"/>
            <a:ext cx="1609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기존 기준 정리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634115-5CF4-4FE7-BB50-E37A6299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52800"/>
            <a:ext cx="16097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D2D2D"/>
                </a:solidFill>
              </a:defRPr>
            </a:pPr>
            <a:r>
              <a:rPr sz="1125" b="0">
                <a:solidFill>
                  <a:srgbClr val="2D2D2D"/>
                </a:solidFill>
              </a:rPr>
              <a:t>안정화 후 중복 관계 컬럼과 임시 연결 방식 정리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E93447-63A9-47FE-BE4B-DE448BEB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19700"/>
            <a:ext cx="8877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F584D5-73F0-47B1-AA5F-45C43D4B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34000"/>
            <a:ext cx="842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전환 중에도 현재 화면과 API를 유지해 고객 업무 중단을 최소화합니다.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0017CB-B19B-4F2B-9A19-6D93D175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4F4928-657A-4599-AB57-4D7601AF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B73"/>
                </a:solidFill>
              </a:defRPr>
            </a:pPr>
            <a:r>
              <a:rPr sz="750" b="0">
                <a:solidFill>
                  <a:srgbClr val="666B73"/>
                </a:solidFill>
              </a:rPr>
              <a:t>고객 협의용 · 2026.08.30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E0ACF3-E355-466A-9174-399DE880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40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B73"/>
                </a:solidFill>
              </a:defRPr>
            </a:pPr>
            <a:r>
              <a:rPr sz="750" b="0">
                <a:solidFill>
                  <a:srgbClr val="666B73"/>
                </a:solidFill>
              </a:rPr>
              <a:t>MACHINE IQ GLOBAL STRUCTURE</a:t>
            </a:r>
          </a:p>
        </p:txBody>
      </p:sp>
    </p:spTree>
    <p:extLst>
      <p:ext uri="{BB962C8B-B14F-4D97-AF65-F5344CB8AC3E}">
        <p14:creationId xmlns:p14="http://schemas.microsoft.com/office/powerpoint/2010/main" val="11456565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56C292-B1EA-4558-8DF1-7E21BB3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0D"/>
          </a:solidFill>
          <a:ln xmlns:a="http://schemas.openxmlformats.org/drawingml/2006/main" w="0">
            <a:solidFill>
              <a:srgbClr val="FF360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6CF1E-A729-42F9-822B-A4BD4E42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60D"/>
                </a:solidFill>
              </a:defRPr>
            </a:pPr>
            <a:r>
              <a:rPr sz="900" b="1">
                <a:solidFill>
                  <a:srgbClr val="FF360D"/>
                </a:solidFill>
              </a:rPr>
              <a:t>10 · 고객 확인 사항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BF694-F363-4186-AE3A-9807BC4E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차량과 업체·딜러 관계에서 결정이 필요한 항목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8767C-6A76-4DD8-9028-35D7F9B3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42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B73"/>
                </a:solidFill>
              </a:defRPr>
            </a:pPr>
            <a:r>
              <a:rPr sz="975" b="1">
                <a:solidFill>
                  <a:srgbClr val="666B73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38DB5-FA27-497C-BFAA-C1FBC61F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270AF-5E33-42B2-8516-D2A5E830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D053C-D353-461F-955E-4EE00D42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457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360D"/>
          </a:solidFill>
          <a:ln xmlns:a="http://schemas.openxmlformats.org/drawingml/2006/main" w="9525">
            <a:solidFill>
              <a:srgbClr val="FF360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43504-3B86-4D71-A0A4-294D8153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67975-7DAF-4CF4-B495-D8CDA198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81200"/>
            <a:ext cx="4248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차량의 소유 업체와 실제 운영 업체가 다를 수 있습니까?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09310-9A6D-47D8-B904-EB3F2F84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47850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8793A-9CEF-4325-B4E9-84B996EB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457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360D"/>
          </a:solidFill>
          <a:ln xmlns:a="http://schemas.openxmlformats.org/drawingml/2006/main" w="9525">
            <a:solidFill>
              <a:srgbClr val="FF360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E96BF-0634-4E26-A387-7EBEBBCB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A78C3-9F98-4809-938C-47554FC5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81200"/>
            <a:ext cx="4248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판매 딜러와 정비 담당 딜러가 다를 수 있습니까?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2C6FB-7A5C-4CD1-9B8A-6F0A16EF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45832-D426-45DE-AD04-A2018DA2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457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360D"/>
          </a:solidFill>
          <a:ln xmlns:a="http://schemas.openxmlformats.org/drawingml/2006/main" w="9525">
            <a:solidFill>
              <a:srgbClr val="FF360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4756EA-3BB2-4765-BCC6-A2EC9A72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5D248-9B19-4971-9BDE-30B4BCA9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4248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한 차량을 둘 이상의 업체가 동시에 운영할 수 있습니까?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DEA4A7-E1B8-4227-8878-28246A1E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62300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A2B851-4DC9-4E3B-94B3-F54FD8F9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457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360D"/>
          </a:solidFill>
          <a:ln xmlns:a="http://schemas.openxmlformats.org/drawingml/2006/main" w="9525">
            <a:solidFill>
              <a:srgbClr val="FF360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5C6142-F55F-4B6C-8E1E-E5C6EE86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52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944758-E799-46F4-B05A-A05F7F68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95650"/>
            <a:ext cx="4248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차량 양도·재판매 후 이전 업체가 확인할 수 있는 정보 범위는 어디까지입니까?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FC0851-E053-4A14-911E-016E7038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177902-A85B-4052-BB16-AFC4B48A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457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360D"/>
          </a:solidFill>
          <a:ln xmlns:a="http://schemas.openxmlformats.org/drawingml/2006/main" w="9525">
            <a:solidFill>
              <a:srgbClr val="FF360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75086A-3932-492D-A9BF-886EDE16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C5405D-989D-44FB-BFFA-124A05F3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10100"/>
            <a:ext cx="4248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정비 담당 딜러의 권한은 계약 종료 즉시 회수해야 합니까?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3734D5-CC5C-425E-B0C4-5A396A99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76750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E9AC58-003C-493F-991E-94939C42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457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360D"/>
          </a:solidFill>
          <a:ln xmlns:a="http://schemas.openxmlformats.org/drawingml/2006/main" w="9525">
            <a:solidFill>
              <a:srgbClr val="FF360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590CC7-EF6E-4C19-9B0C-DB2F51C0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67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Q6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62AD23-507B-43F9-B303-C7B79E11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10100"/>
            <a:ext cx="4248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플릿과 딜러에서 같은 차량의 명칭·그룹을 다르게 관리할 수 있습니까?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6314BC-772B-477C-B797-1FA7E755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E2DC1A-3B68-4F7C-AC31-F4ACC2AE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B73"/>
                </a:solidFill>
              </a:defRPr>
            </a:pPr>
            <a:r>
              <a:rPr sz="750" b="0">
                <a:solidFill>
                  <a:srgbClr val="666B73"/>
                </a:solidFill>
              </a:rPr>
              <a:t>고객 협의용 · 2026.08.30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0CB7FE-72B8-46EF-9286-320A8244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40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B73"/>
                </a:solidFill>
              </a:defRPr>
            </a:pPr>
            <a:r>
              <a:rPr sz="750" b="0">
                <a:solidFill>
                  <a:srgbClr val="666B73"/>
                </a:solidFill>
              </a:rPr>
              <a:t>MACHINE IQ GLOBAL STRUCTURE</a:t>
            </a:r>
          </a:p>
        </p:txBody>
      </p:sp>
    </p:spTree>
    <p:extLst>
      <p:ext uri="{BB962C8B-B14F-4D97-AF65-F5344CB8AC3E}">
        <p14:creationId xmlns:p14="http://schemas.microsoft.com/office/powerpoint/2010/main" val="20302555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E8C41F-495F-43E1-A629-03DD32CE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0D"/>
          </a:solidFill>
          <a:ln xmlns:a="http://schemas.openxmlformats.org/drawingml/2006/main" w="0">
            <a:solidFill>
              <a:srgbClr val="FF360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87EB5-B35A-4C59-970B-65AD856D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60D"/>
                </a:solidFill>
              </a:defRPr>
            </a:pPr>
            <a:r>
              <a:rPr sz="900" b="1">
                <a:solidFill>
                  <a:srgbClr val="FF360D"/>
                </a:solidFill>
              </a:rPr>
              <a:t>11 · 글로벌 정책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7030C-31D8-4B10-BE3D-66CCA1B5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국가별 운영 기준에서 결정이 필요한 항목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BF3F1-6B02-4141-8E18-8ED5C938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42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B73"/>
                </a:solidFill>
              </a:defRPr>
            </a:pPr>
            <a:r>
              <a:rPr sz="975" b="1">
                <a:solidFill>
                  <a:srgbClr val="666B73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3A1F9-E308-4CB4-A102-71065BCB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2C6E7-9898-4EEC-8F89-6068FFC1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42164-1B5D-4507-838D-C6F5FEFB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0D"/>
          </a:solidFill>
          <a:ln xmlns:a="http://schemas.openxmlformats.org/drawingml/2006/main" w="0">
            <a:solidFill>
              <a:srgbClr val="FF360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A09B0-9464-46D0-95B0-595A2734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483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국가 경계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9ABCF-83AC-414F-9278-50066099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483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데이터 구분 기준은 국가, 현지 법인, 계약 법인 중 무엇입니까?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1515E-0022-4017-AEFE-B558A116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47850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191DA-CB24-4359-ABFC-90311594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478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0D"/>
          </a:solidFill>
          <a:ln xmlns:a="http://schemas.openxmlformats.org/drawingml/2006/main" w="0">
            <a:solidFill>
              <a:srgbClr val="FF360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3039D9-668C-43A9-A930-7602796A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483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시간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8FD7B-9842-4065-B4A4-101B8E34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483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일·주·월 집계는 차량 위치, 사용자 위치, 법인 기준 중 무엇입니까?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A294B-CCBD-4557-A2D2-384F6B79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B9F0CD-A6CE-4506-874E-7FFACF23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solidFill>
              <a:srgbClr val="2E6F9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2C3EB-2A11-45E3-8846-3883BACB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483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언어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C3BFB-F0BF-4A9A-8DC3-C750C796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483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지원 언어와 번역이 없을 때 기본 표시 언어는 무엇입니까?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5BADF1-DD11-4CA3-8B8B-D86CDEDD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62300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8B0330-E51A-4AC7-87E8-3C98CBE3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623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solidFill>
              <a:srgbClr val="2E6F9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7DF130-6751-4371-909A-D9BF01E5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14700"/>
            <a:ext cx="483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단위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8DB6FD-23A0-4111-B1C8-5E010010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76650"/>
            <a:ext cx="483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사용자 선택과 국가 기본값 중 어느 기준을 우선합니까?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2B8E6B-BAEE-4DF5-B30E-5E97A2C2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26A12F-ECC3-4F9D-8560-250621C0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solidFill>
              <a:srgbClr val="2E6F9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DE35F4-265F-4169-BFF5-45DB9321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483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데이터 보관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8C2E04-C37A-4334-808C-50046A46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483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위치·운행·사용자 정보는 국가별로 얼마나 보관합니까?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F5095C-B724-49B3-91FD-63CB6B6D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76750"/>
            <a:ext cx="5238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553224-7221-434B-8C59-A3056A93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76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solidFill>
              <a:srgbClr val="2E6F9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9D7A63-9241-47FC-AF59-E8695D2A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29150"/>
            <a:ext cx="483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국가 간 지원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688A84-F7C2-41D0-A72F-59D03D78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91100"/>
            <a:ext cx="483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본사 또는 글로벌 관리자가 다른 국가 차량을 볼 수 있습니까?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329E85-4005-4BD0-B52F-A9E6A0EB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72ADF5-2479-4B55-8C46-7A5293F1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B73"/>
                </a:solidFill>
              </a:defRPr>
            </a:pPr>
            <a:r>
              <a:rPr sz="750" b="0">
                <a:solidFill>
                  <a:srgbClr val="666B73"/>
                </a:solidFill>
              </a:rPr>
              <a:t>고객 협의용 · 2026.08.30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F5D07A-4557-47BA-9B0D-D4E497B1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40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B73"/>
                </a:solidFill>
              </a:defRPr>
            </a:pPr>
            <a:r>
              <a:rPr sz="750" b="0">
                <a:solidFill>
                  <a:srgbClr val="666B73"/>
                </a:solidFill>
              </a:rPr>
              <a:t>MACHINE IQ GLOBAL STRUCTURE</a:t>
            </a:r>
          </a:p>
        </p:txBody>
      </p:sp>
    </p:spTree>
    <p:extLst>
      <p:ext uri="{BB962C8B-B14F-4D97-AF65-F5344CB8AC3E}">
        <p14:creationId xmlns:p14="http://schemas.microsoft.com/office/powerpoint/2010/main" val="4262861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0DAAA1-17FD-4EC3-BE82-FE6CEDC1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0D"/>
          </a:solidFill>
          <a:ln xmlns:a="http://schemas.openxmlformats.org/drawingml/2006/main" w="0">
            <a:solidFill>
              <a:srgbClr val="FF360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1D811-B404-40B0-849C-F26ED385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19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60D"/>
                </a:solidFill>
              </a:defRPr>
            </a:pPr>
            <a:r>
              <a:rPr sz="900" b="1">
                <a:solidFill>
                  <a:srgbClr val="FF360D"/>
                </a:solidFill>
              </a:rPr>
              <a:t>12 · 회의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C3B00-BD36-41A1-90C3-EC75C73E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이번 협의에서 확정할 범위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ABA55-F9A3-446D-AEA9-E1A1CC20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42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B73"/>
                </a:solidFill>
              </a:defRPr>
            </a:pPr>
            <a:r>
              <a:rPr sz="975" b="1">
                <a:solidFill>
                  <a:srgbClr val="666B73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749A7-8CB0-47B9-8A98-FE14B5BD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E7B56-D8E5-4D3B-B94B-CC5B960A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관계 기준을 먼저 확정하면 화면·API·DB 설계를 같은 방향으로 맞출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DF713-63CC-44CB-8182-E6939CAE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3147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95959-74B8-402F-BD96-9529C63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60D"/>
          </a:solidFill>
          <a:ln xmlns:a="http://schemas.openxmlformats.org/drawingml/2006/main" w="0">
            <a:solidFill>
              <a:srgbClr val="FF360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877CB-C615-4257-A5F6-D3D87F1E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1. 관계 종류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B2617-6686-4FB3-8AC1-10B8AF97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29146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소유·운영·판매·정비의 정의</a:t>
            </a:r>
          </a:p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동시 관계 허용 여부</a:t>
            </a:r>
          </a:p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이전 관계 보존 기간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6B1FC-EF3D-4310-9E61-7A23C15A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33147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2D133-BBE8-4587-AA0A-9F44D7A3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0">
            <a:solidFill>
              <a:srgbClr val="2E6F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CECD10-C941-42EA-8DB7-B0334547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337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2. 조회 권한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DE9F3-B94F-4EFE-986E-1DEE23E4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95650"/>
            <a:ext cx="29146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플릿·딜러별 조회 범위</a:t>
            </a:r>
          </a:p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계약 종료 시 권한 회수</a:t>
            </a:r>
          </a:p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국가 간 조회 허용 범위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12AC3-8480-4DC4-BCFB-73D25E86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33147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BB717F-6123-4A66-AC58-9E6FAE25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5F"/>
          </a:solidFill>
          <a:ln xmlns:a="http://schemas.openxmlformats.org/drawingml/2006/main" w="0">
            <a:solidFill>
              <a:srgbClr val="0F8A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F1958B-FA20-4A51-875D-2F6867EC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337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3. 글로벌 기준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AF453A-921C-4E55-828E-4AB68DCB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95650"/>
            <a:ext cx="29146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국가·법인 경계</a:t>
            </a:r>
          </a:p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시간대·언어·단위</a:t>
            </a:r>
          </a:p>
          <a:p xmlns:a="http://schemas.openxmlformats.org/drawingml/2006/main">
            <a:pPr algn="l">
              <a:defRPr sz="1200" b="0">
                <a:solidFill>
                  <a:srgbClr val="2D2D2D"/>
                </a:solidFill>
              </a:defRPr>
            </a:pPr>
            <a:r>
              <a:rPr sz="1200" b="0">
                <a:solidFill>
                  <a:srgbClr val="2D2D2D"/>
                </a:solidFill>
              </a:rPr>
              <a:t>데이터 저장·보존 정책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1BC6FC-6A79-4A0F-99EE-622BF475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62550"/>
            <a:ext cx="8191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84AA53-8636-436E-AC06-8C471351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38750"/>
            <a:ext cx="769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확정 결과를 기준으로 상세 데이터 구조·API 계약·마이그레이션 범위 수립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3D5E1F-7356-4F34-9276-ECAA0D5F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32C655-A3D1-431D-8BCC-C455D47F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6B73"/>
                </a:solidFill>
              </a:defRPr>
            </a:pPr>
            <a:r>
              <a:rPr sz="750" b="0">
                <a:solidFill>
                  <a:srgbClr val="666B73"/>
                </a:solidFill>
              </a:rPr>
              <a:t>고객 협의용 · 2026.08.30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D3B23F-47DD-4AAA-9796-DEE0EF0A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15100"/>
            <a:ext cx="340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B73"/>
                </a:solidFill>
              </a:defRPr>
            </a:pPr>
            <a:r>
              <a:rPr sz="750" b="0">
                <a:solidFill>
                  <a:srgbClr val="666B73"/>
                </a:solidFill>
              </a:rPr>
              <a:t>MACHINE IQ GLOBAL STRUCTURE</a:t>
            </a:r>
          </a:p>
        </p:txBody>
      </p:sp>
    </p:spTree>
    <p:extLst>
      <p:ext uri="{BB962C8B-B14F-4D97-AF65-F5344CB8AC3E}">
        <p14:creationId xmlns:p14="http://schemas.microsoft.com/office/powerpoint/2010/main" val="8099641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2026-08-30T03:52:17.1020000Z</dcterms:created>
  <dcterms:modified xsi:type="dcterms:W3CDTF">2026-08-30T03:52:17.1020000Z</dcterms:modified>
</coreProperties>
</file>